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5" r:id="rId6"/>
    <p:sldId id="260" r:id="rId7"/>
    <p:sldId id="261" r:id="rId8"/>
    <p:sldId id="262" r:id="rId9"/>
    <p:sldId id="263" r:id="rId10"/>
    <p:sldId id="264" r:id="rId11"/>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0" d="100"/>
          <a:sy n="90" d="100"/>
        </p:scale>
        <p:origin x="370"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121E"/>
        </a:solidFill>
        <a:effectLst/>
      </p:bgPr>
    </p:bg>
    <p:spTree>
      <p:nvGrpSpPr>
        <p:cNvPr id="1" name=""/>
        <p:cNvGrpSpPr/>
        <p:nvPr/>
      </p:nvGrpSpPr>
      <p:grpSpPr>
        <a:xfrm>
          <a:off x="0" y="0"/>
          <a:ext cx="0" cy="0"/>
          <a:chOff x="0" y="0"/>
          <a:chExt cx="0" cy="0"/>
        </a:xfrm>
      </p:grpSpPr>
      <p:sp>
        <p:nvSpPr>
          <p:cNvPr id="2" name="Rectangle 1"/>
          <p:cNvSpPr/>
          <p:nvPr/>
        </p:nvSpPr>
        <p:spPr>
          <a:xfrm>
            <a:off x="0" y="0"/>
            <a:ext cx="320040" cy="685800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37160"/>
            <a:ext cx="7315200" cy="548640"/>
          </a:xfrm>
          <a:prstGeom prst="rect">
            <a:avLst/>
          </a:prstGeom>
          <a:noFill/>
        </p:spPr>
        <p:txBody>
          <a:bodyPr wrap="square">
            <a:spAutoFit/>
          </a:bodyPr>
          <a:lstStyle/>
          <a:p>
            <a:pPr algn="l"/>
            <a:r>
              <a:rPr sz="2200" b="0" i="0">
                <a:solidFill>
                  <a:srgbClr val="444460"/>
                </a:solidFill>
              </a:rPr>
              <a:t>♠  ♥  ♦  ♣</a:t>
            </a:r>
          </a:p>
        </p:txBody>
      </p:sp>
      <p:sp>
        <p:nvSpPr>
          <p:cNvPr id="4" name="TextBox 3"/>
          <p:cNvSpPr txBox="1"/>
          <p:nvPr/>
        </p:nvSpPr>
        <p:spPr>
          <a:xfrm>
            <a:off x="502920" y="914400"/>
            <a:ext cx="8229600" cy="1371600"/>
          </a:xfrm>
          <a:prstGeom prst="rect">
            <a:avLst/>
          </a:prstGeom>
          <a:noFill/>
        </p:spPr>
        <p:txBody>
          <a:bodyPr wrap="square">
            <a:spAutoFit/>
          </a:bodyPr>
          <a:lstStyle/>
          <a:p>
            <a:pPr algn="l"/>
            <a:r>
              <a:rPr sz="7200" b="1" i="0">
                <a:solidFill>
                  <a:srgbClr val="FFC400"/>
                </a:solidFill>
              </a:rPr>
              <a:t>PiNNTORP</a:t>
            </a:r>
          </a:p>
        </p:txBody>
      </p:sp>
      <p:sp>
        <p:nvSpPr>
          <p:cNvPr id="6" name="Rectangle 5"/>
          <p:cNvSpPr/>
          <p:nvPr/>
        </p:nvSpPr>
        <p:spPr>
          <a:xfrm>
            <a:off x="502920" y="2051437"/>
            <a:ext cx="10972800" cy="2540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80060" y="2213997"/>
            <a:ext cx="8229600" cy="430887"/>
          </a:xfrm>
          <a:prstGeom prst="rect">
            <a:avLst/>
          </a:prstGeom>
          <a:noFill/>
        </p:spPr>
        <p:txBody>
          <a:bodyPr wrap="square">
            <a:spAutoFit/>
          </a:bodyPr>
          <a:lstStyle/>
          <a:p>
            <a:pPr algn="l"/>
            <a:r>
              <a:rPr sz="2200" b="1" i="0" dirty="0">
                <a:solidFill>
                  <a:srgbClr val="FFFFFF"/>
                </a:solidFill>
              </a:rPr>
              <a:t>Lab 11 </a:t>
            </a:r>
            <a:r>
              <a:rPr lang="en-CA" sz="2200" b="1" i="0" dirty="0">
                <a:solidFill>
                  <a:srgbClr val="FFFFFF"/>
                </a:solidFill>
              </a:rPr>
              <a:t>-</a:t>
            </a:r>
            <a:r>
              <a:rPr sz="2200" b="1" i="0" dirty="0">
                <a:solidFill>
                  <a:srgbClr val="FFFFFF"/>
                </a:solidFill>
              </a:rPr>
              <a:t> Final Demo Presentation</a:t>
            </a:r>
          </a:p>
        </p:txBody>
      </p:sp>
      <p:sp>
        <p:nvSpPr>
          <p:cNvPr id="9" name="Rectangle 8"/>
          <p:cNvSpPr/>
          <p:nvPr/>
        </p:nvSpPr>
        <p:spPr>
          <a:xfrm>
            <a:off x="8503920" y="1371600"/>
            <a:ext cx="3383280" cy="4114800"/>
          </a:xfrm>
          <a:prstGeom prst="rect">
            <a:avLst/>
          </a:prstGeom>
          <a:solidFill>
            <a:srgbClr val="1E1E35"/>
          </a:solidFill>
          <a:ln w="19050">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0" y="1600200"/>
            <a:ext cx="3017520" cy="1831271"/>
          </a:xfrm>
          <a:prstGeom prst="rect">
            <a:avLst/>
          </a:prstGeom>
          <a:noFill/>
        </p:spPr>
        <p:txBody>
          <a:bodyPr wrap="square">
            <a:spAutoFit/>
          </a:bodyPr>
          <a:lstStyle/>
          <a:p>
            <a:pPr algn="l"/>
            <a:r>
              <a:rPr sz="1400" b="1" dirty="0" err="1">
                <a:solidFill>
                  <a:srgbClr val="FFC400"/>
                </a:solidFill>
              </a:rPr>
              <a:t>PiNNTORP</a:t>
            </a:r>
            <a:r>
              <a:rPr sz="1400" b="1" dirty="0">
                <a:solidFill>
                  <a:srgbClr val="FFC400"/>
                </a:solidFill>
              </a:rPr>
              <a:t> LLC</a:t>
            </a:r>
          </a:p>
          <a:p>
            <a:pPr algn="l"/>
            <a:endParaRPr sz="1400" b="1" dirty="0">
              <a:solidFill>
                <a:srgbClr val="FFC400"/>
              </a:solidFill>
            </a:endParaRPr>
          </a:p>
          <a:p>
            <a:pPr algn="l"/>
            <a:r>
              <a:rPr sz="1300" b="1" dirty="0">
                <a:solidFill>
                  <a:srgbClr val="FFFFFF"/>
                </a:solidFill>
              </a:rPr>
              <a:t>Eric Beaulne</a:t>
            </a:r>
            <a:r>
              <a:rPr lang="en-CA" sz="1300" b="1" dirty="0">
                <a:solidFill>
                  <a:srgbClr val="FFFFFF"/>
                </a:solidFill>
              </a:rPr>
              <a:t> - </a:t>
            </a:r>
            <a:r>
              <a:rPr sz="1100" b="0" dirty="0">
                <a:solidFill>
                  <a:srgbClr val="CCCCCC"/>
                </a:solidFill>
              </a:rPr>
              <a:t>Project Manager</a:t>
            </a:r>
          </a:p>
          <a:p>
            <a:pPr algn="l"/>
            <a:endParaRPr sz="1100" b="0" dirty="0">
              <a:solidFill>
                <a:srgbClr val="CCCCCC"/>
              </a:solidFill>
            </a:endParaRPr>
          </a:p>
          <a:p>
            <a:pPr algn="l"/>
            <a:r>
              <a:rPr sz="1300" b="1" dirty="0">
                <a:solidFill>
                  <a:srgbClr val="FFFFFF"/>
                </a:solidFill>
              </a:rPr>
              <a:t>Adrian Ahmadi</a:t>
            </a:r>
            <a:r>
              <a:rPr lang="en-CA" sz="1300" b="1" dirty="0">
                <a:solidFill>
                  <a:srgbClr val="FFFFFF"/>
                </a:solidFill>
              </a:rPr>
              <a:t> - </a:t>
            </a:r>
            <a:r>
              <a:rPr sz="1100" b="0" dirty="0">
                <a:solidFill>
                  <a:srgbClr val="CCCCCC"/>
                </a:solidFill>
              </a:rPr>
              <a:t>Front-End Lead</a:t>
            </a:r>
          </a:p>
          <a:p>
            <a:pPr algn="l"/>
            <a:endParaRPr sz="1100" b="0" dirty="0">
              <a:solidFill>
                <a:srgbClr val="CCCCCC"/>
              </a:solidFill>
            </a:endParaRPr>
          </a:p>
          <a:p>
            <a:pPr algn="l"/>
            <a:r>
              <a:rPr sz="1300" b="1" dirty="0">
                <a:solidFill>
                  <a:srgbClr val="FFFFFF"/>
                </a:solidFill>
              </a:rPr>
              <a:t>Nikola </a:t>
            </a:r>
            <a:r>
              <a:rPr sz="1300" b="1" dirty="0" err="1">
                <a:solidFill>
                  <a:srgbClr val="FFFFFF"/>
                </a:solidFill>
              </a:rPr>
              <a:t>Grujin</a:t>
            </a:r>
            <a:r>
              <a:rPr lang="en-CA" sz="1300" b="1" dirty="0">
                <a:solidFill>
                  <a:srgbClr val="FFFFFF"/>
                </a:solidFill>
              </a:rPr>
              <a:t> - </a:t>
            </a:r>
            <a:r>
              <a:rPr sz="1100" b="0" dirty="0">
                <a:solidFill>
                  <a:srgbClr val="CCCCCC"/>
                </a:solidFill>
              </a:rPr>
              <a:t>Back-End Lead</a:t>
            </a:r>
          </a:p>
          <a:p>
            <a:pPr algn="l"/>
            <a:endParaRPr sz="1100" b="0" dirty="0">
              <a:solidFill>
                <a:srgbClr val="CCCCCC"/>
              </a:solidFill>
            </a:endParaRPr>
          </a:p>
          <a:p>
            <a:pPr algn="l"/>
            <a:r>
              <a:rPr sz="1300" b="1" dirty="0">
                <a:solidFill>
                  <a:srgbClr val="FFFFFF"/>
                </a:solidFill>
              </a:rPr>
              <a:t>Hayden Dunn</a:t>
            </a:r>
            <a:r>
              <a:rPr lang="en-CA" sz="1300" b="1" dirty="0">
                <a:solidFill>
                  <a:srgbClr val="FFFFFF"/>
                </a:solidFill>
              </a:rPr>
              <a:t> - </a:t>
            </a:r>
            <a:r>
              <a:rPr sz="1100" b="0" dirty="0">
                <a:solidFill>
                  <a:srgbClr val="CCCCCC"/>
                </a:solidFill>
              </a:rPr>
              <a:t>Quality Lead / Tech Manager</a:t>
            </a:r>
          </a:p>
        </p:txBody>
      </p:sp>
      <p:pic>
        <p:nvPicPr>
          <p:cNvPr id="12" name="Picture 11">
            <a:extLst>
              <a:ext uri="{FF2B5EF4-FFF2-40B4-BE49-F238E27FC236}">
                <a16:creationId xmlns:a16="http://schemas.microsoft.com/office/drawing/2014/main" id="{140FCDCD-800E-A168-9BDA-86EB45517B24}"/>
              </a:ext>
            </a:extLst>
          </p:cNvPr>
          <p:cNvPicPr>
            <a:picLocks noChangeAspect="1"/>
          </p:cNvPicPr>
          <p:nvPr/>
        </p:nvPicPr>
        <p:blipFill>
          <a:blip r:embed="rId2"/>
          <a:stretch>
            <a:fillRect/>
          </a:stretch>
        </p:blipFill>
        <p:spPr>
          <a:xfrm>
            <a:off x="502920" y="2743983"/>
            <a:ext cx="4015739" cy="401573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2121E"/>
        </a:solidFill>
        <a:effectLst/>
      </p:bgPr>
    </p:bg>
    <p:spTree>
      <p:nvGrpSpPr>
        <p:cNvPr id="1" name=""/>
        <p:cNvGrpSpPr/>
        <p:nvPr/>
      </p:nvGrpSpPr>
      <p:grpSpPr>
        <a:xfrm>
          <a:off x="0" y="0"/>
          <a:ext cx="0" cy="0"/>
          <a:chOff x="0" y="0"/>
          <a:chExt cx="0" cy="0"/>
        </a:xfrm>
      </p:grpSpPr>
      <p:sp>
        <p:nvSpPr>
          <p:cNvPr id="2" name="Rectangle 1"/>
          <p:cNvSpPr/>
          <p:nvPr/>
        </p:nvSpPr>
        <p:spPr>
          <a:xfrm>
            <a:off x="0" y="0"/>
            <a:ext cx="320040" cy="685800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28600"/>
            <a:ext cx="9144000" cy="594360"/>
          </a:xfrm>
          <a:prstGeom prst="rect">
            <a:avLst/>
          </a:prstGeom>
          <a:noFill/>
        </p:spPr>
        <p:txBody>
          <a:bodyPr wrap="square">
            <a:spAutoFit/>
          </a:bodyPr>
          <a:lstStyle/>
          <a:p>
            <a:pPr algn="l"/>
            <a:r>
              <a:rPr sz="3200" b="1" i="0" dirty="0">
                <a:solidFill>
                  <a:srgbClr val="FFC400"/>
                </a:solidFill>
              </a:rPr>
              <a:t>Iteration 3 </a:t>
            </a:r>
            <a:r>
              <a:rPr lang="en-CA" sz="3200" b="1" i="0" dirty="0">
                <a:solidFill>
                  <a:srgbClr val="FFC400"/>
                </a:solidFill>
              </a:rPr>
              <a:t>-</a:t>
            </a:r>
            <a:r>
              <a:rPr sz="3200" b="1" i="0" dirty="0">
                <a:solidFill>
                  <a:srgbClr val="FFC400"/>
                </a:solidFill>
              </a:rPr>
              <a:t> What</a:t>
            </a:r>
            <a:r>
              <a:rPr lang="en-CA" sz="3200" b="1" dirty="0">
                <a:solidFill>
                  <a:srgbClr val="FFC400"/>
                </a:solidFill>
              </a:rPr>
              <a:t> we did</a:t>
            </a:r>
            <a:endParaRPr sz="3200" b="1" i="0" dirty="0">
              <a:solidFill>
                <a:srgbClr val="FFC400"/>
              </a:solidFill>
            </a:endParaRPr>
          </a:p>
        </p:txBody>
      </p:sp>
      <p:sp>
        <p:nvSpPr>
          <p:cNvPr id="4" name="Rectangle 3"/>
          <p:cNvSpPr/>
          <p:nvPr/>
        </p:nvSpPr>
        <p:spPr>
          <a:xfrm>
            <a:off x="612648" y="914400"/>
            <a:ext cx="10972800" cy="2540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355080" y="1097280"/>
            <a:ext cx="5394960" cy="1188720"/>
          </a:xfrm>
          <a:prstGeom prst="rect">
            <a:avLst/>
          </a:prstGeom>
          <a:solidFill>
            <a:srgbClr val="1E1E35"/>
          </a:solidFill>
          <a:ln w="254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355080" y="1097280"/>
            <a:ext cx="164592" cy="118872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11112" y="1188720"/>
            <a:ext cx="5074920" cy="292388"/>
          </a:xfrm>
          <a:prstGeom prst="rect">
            <a:avLst/>
          </a:prstGeom>
          <a:noFill/>
        </p:spPr>
        <p:txBody>
          <a:bodyPr wrap="square">
            <a:spAutoFit/>
          </a:bodyPr>
          <a:lstStyle/>
          <a:p>
            <a:pPr algn="l"/>
            <a:r>
              <a:rPr lang="en-CA" sz="1300" b="1" dirty="0">
                <a:solidFill>
                  <a:srgbClr val="60A5FA"/>
                </a:solidFill>
              </a:rPr>
              <a:t>A new way to earn money in </a:t>
            </a:r>
            <a:r>
              <a:rPr lang="en-CA" sz="1300" b="1" dirty="0" err="1">
                <a:solidFill>
                  <a:srgbClr val="60A5FA"/>
                </a:solidFill>
              </a:rPr>
              <a:t>PiNNTORP</a:t>
            </a:r>
            <a:endParaRPr sz="1300" b="1" i="0" dirty="0">
              <a:solidFill>
                <a:srgbClr val="60A5FA"/>
              </a:solidFill>
            </a:endParaRPr>
          </a:p>
        </p:txBody>
      </p:sp>
      <p:sp>
        <p:nvSpPr>
          <p:cNvPr id="12" name="TextBox 11"/>
          <p:cNvSpPr txBox="1"/>
          <p:nvPr/>
        </p:nvSpPr>
        <p:spPr>
          <a:xfrm>
            <a:off x="6611112" y="1517904"/>
            <a:ext cx="5074920" cy="600164"/>
          </a:xfrm>
          <a:prstGeom prst="rect">
            <a:avLst/>
          </a:prstGeom>
          <a:noFill/>
        </p:spPr>
        <p:txBody>
          <a:bodyPr wrap="square">
            <a:spAutoFit/>
          </a:bodyPr>
          <a:lstStyle/>
          <a:p>
            <a:r>
              <a:rPr lang="en-US" sz="1100" dirty="0">
                <a:solidFill>
                  <a:srgbClr val="CCCCCC"/>
                </a:solidFill>
              </a:rPr>
              <a:t>This is a new page that mimics the popular Cookie Clicker, where the users click on the coin and earn money by gambling. Users will not be able to do this once their money crosses $500 until they go below that amount.</a:t>
            </a:r>
            <a:endParaRPr sz="1100" b="0" i="0" dirty="0">
              <a:solidFill>
                <a:srgbClr val="CCCCCC"/>
              </a:solidFill>
            </a:endParaRPr>
          </a:p>
        </p:txBody>
      </p:sp>
      <p:sp>
        <p:nvSpPr>
          <p:cNvPr id="13" name="Rectangle 12"/>
          <p:cNvSpPr/>
          <p:nvPr/>
        </p:nvSpPr>
        <p:spPr>
          <a:xfrm>
            <a:off x="640080" y="1097280"/>
            <a:ext cx="5394960" cy="1188720"/>
          </a:xfrm>
          <a:prstGeom prst="rect">
            <a:avLst/>
          </a:prstGeom>
          <a:solidFill>
            <a:srgbClr val="1E1E35"/>
          </a:solidFill>
          <a:ln w="25400">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80" y="1097280"/>
            <a:ext cx="164592" cy="118872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96112" y="1188720"/>
            <a:ext cx="5074920" cy="292388"/>
          </a:xfrm>
          <a:prstGeom prst="rect">
            <a:avLst/>
          </a:prstGeom>
          <a:noFill/>
        </p:spPr>
        <p:txBody>
          <a:bodyPr wrap="square">
            <a:spAutoFit/>
          </a:bodyPr>
          <a:lstStyle/>
          <a:p>
            <a:pPr algn="l"/>
            <a:r>
              <a:rPr sz="1300" b="1" i="0" dirty="0">
                <a:solidFill>
                  <a:srgbClr val="FFC400"/>
                </a:solidFill>
              </a:rPr>
              <a:t>Account Deletion</a:t>
            </a:r>
          </a:p>
        </p:txBody>
      </p:sp>
      <p:sp>
        <p:nvSpPr>
          <p:cNvPr id="16" name="TextBox 15"/>
          <p:cNvSpPr txBox="1"/>
          <p:nvPr/>
        </p:nvSpPr>
        <p:spPr>
          <a:xfrm>
            <a:off x="896112" y="1517904"/>
            <a:ext cx="5074920" cy="430887"/>
          </a:xfrm>
          <a:prstGeom prst="rect">
            <a:avLst/>
          </a:prstGeom>
          <a:noFill/>
        </p:spPr>
        <p:txBody>
          <a:bodyPr wrap="square">
            <a:spAutoFit/>
          </a:bodyPr>
          <a:lstStyle/>
          <a:p>
            <a:pPr algn="l"/>
            <a:r>
              <a:rPr sz="1100" b="0" i="0" dirty="0">
                <a:solidFill>
                  <a:srgbClr val="CCCCCC"/>
                </a:solidFill>
              </a:rPr>
              <a:t>Full /</a:t>
            </a:r>
            <a:r>
              <a:rPr sz="1100" b="0" i="0" dirty="0" err="1">
                <a:solidFill>
                  <a:srgbClr val="CCCCCC"/>
                </a:solidFill>
              </a:rPr>
              <a:t>api</a:t>
            </a:r>
            <a:r>
              <a:rPr sz="1100" b="0" i="0" dirty="0">
                <a:solidFill>
                  <a:srgbClr val="CCCCCC"/>
                </a:solidFill>
              </a:rPr>
              <a:t>/user/delete endpoint</a:t>
            </a:r>
            <a:r>
              <a:rPr lang="en-CA" sz="1100" dirty="0">
                <a:solidFill>
                  <a:srgbClr val="CCCCCC"/>
                </a:solidFill>
              </a:rPr>
              <a:t> which </a:t>
            </a:r>
            <a:r>
              <a:rPr sz="1100" b="0" i="0" dirty="0">
                <a:solidFill>
                  <a:srgbClr val="CCCCCC"/>
                </a:solidFill>
              </a:rPr>
              <a:t>wipes user data, </a:t>
            </a:r>
            <a:r>
              <a:rPr lang="en-CA" sz="1100" b="0" i="0" dirty="0">
                <a:solidFill>
                  <a:srgbClr val="CCCCCC"/>
                </a:solidFill>
              </a:rPr>
              <a:t>goes</a:t>
            </a:r>
            <a:r>
              <a:rPr sz="1100" b="0" i="0" dirty="0">
                <a:solidFill>
                  <a:srgbClr val="CCCCCC"/>
                </a:solidFill>
              </a:rPr>
              <a:t> through all friend lists, and clears browser session tokens.</a:t>
            </a:r>
          </a:p>
        </p:txBody>
      </p:sp>
      <p:sp>
        <p:nvSpPr>
          <p:cNvPr id="17" name="Rectangle 16"/>
          <p:cNvSpPr/>
          <p:nvPr/>
        </p:nvSpPr>
        <p:spPr>
          <a:xfrm>
            <a:off x="6355080" y="2450592"/>
            <a:ext cx="5394960" cy="1188720"/>
          </a:xfrm>
          <a:prstGeom prst="rect">
            <a:avLst/>
          </a:prstGeom>
          <a:solidFill>
            <a:srgbClr val="1E1E35"/>
          </a:solidFill>
          <a:ln w="254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355080" y="2450592"/>
            <a:ext cx="164592" cy="118872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11112" y="2542032"/>
            <a:ext cx="5074920" cy="292388"/>
          </a:xfrm>
          <a:prstGeom prst="rect">
            <a:avLst/>
          </a:prstGeom>
          <a:noFill/>
        </p:spPr>
        <p:txBody>
          <a:bodyPr wrap="square">
            <a:spAutoFit/>
          </a:bodyPr>
          <a:lstStyle/>
          <a:p>
            <a:pPr algn="l"/>
            <a:r>
              <a:rPr sz="1300" b="1" i="0" dirty="0">
                <a:solidFill>
                  <a:srgbClr val="F87171"/>
                </a:solidFill>
              </a:rPr>
              <a:t>Global </a:t>
            </a:r>
            <a:r>
              <a:rPr lang="en-CA" sz="1300" b="1" i="0" dirty="0">
                <a:solidFill>
                  <a:srgbClr val="F87171"/>
                </a:solidFill>
              </a:rPr>
              <a:t>Profit </a:t>
            </a:r>
            <a:r>
              <a:rPr sz="1300" b="1" i="0" dirty="0">
                <a:solidFill>
                  <a:srgbClr val="F87171"/>
                </a:solidFill>
              </a:rPr>
              <a:t>Leaderboard</a:t>
            </a:r>
          </a:p>
        </p:txBody>
      </p:sp>
      <p:sp>
        <p:nvSpPr>
          <p:cNvPr id="20" name="TextBox 19"/>
          <p:cNvSpPr txBox="1"/>
          <p:nvPr/>
        </p:nvSpPr>
        <p:spPr>
          <a:xfrm>
            <a:off x="6611112" y="2815679"/>
            <a:ext cx="5074920" cy="769441"/>
          </a:xfrm>
          <a:prstGeom prst="rect">
            <a:avLst/>
          </a:prstGeom>
          <a:noFill/>
        </p:spPr>
        <p:txBody>
          <a:bodyPr wrap="square">
            <a:spAutoFit/>
          </a:bodyPr>
          <a:lstStyle/>
          <a:p>
            <a:r>
              <a:rPr lang="en-US" sz="1100" dirty="0">
                <a:solidFill>
                  <a:srgbClr val="CCCCCC"/>
                </a:solidFill>
              </a:rPr>
              <a:t>GET /leaderboard API call now provides rankings for all users based on lifetime profits (even dummy users are listed to motivate real users). Leaderboard gets shown in the homepage in each refresh. Current user's position in the leaderboard is also shown depending on the user's lifetime profits.</a:t>
            </a:r>
          </a:p>
        </p:txBody>
      </p:sp>
      <p:sp>
        <p:nvSpPr>
          <p:cNvPr id="21" name="Rectangle 20"/>
          <p:cNvSpPr/>
          <p:nvPr/>
        </p:nvSpPr>
        <p:spPr>
          <a:xfrm>
            <a:off x="640080" y="2450592"/>
            <a:ext cx="5394960" cy="1188720"/>
          </a:xfrm>
          <a:prstGeom prst="rect">
            <a:avLst/>
          </a:prstGeom>
          <a:solidFill>
            <a:srgbClr val="1E1E35"/>
          </a:solidFill>
          <a:ln w="2540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40080" y="2450592"/>
            <a:ext cx="164592" cy="1188720"/>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96112" y="2542032"/>
            <a:ext cx="5074920" cy="347472"/>
          </a:xfrm>
          <a:prstGeom prst="rect">
            <a:avLst/>
          </a:prstGeom>
          <a:noFill/>
        </p:spPr>
        <p:txBody>
          <a:bodyPr wrap="square">
            <a:spAutoFit/>
          </a:bodyPr>
          <a:lstStyle/>
          <a:p>
            <a:pPr algn="l"/>
            <a:r>
              <a:rPr sz="1300" b="1" i="0">
                <a:solidFill>
                  <a:srgbClr val="4ADE80"/>
                </a:solidFill>
              </a:rPr>
              <a:t>Comprehensive Test Suite</a:t>
            </a:r>
          </a:p>
        </p:txBody>
      </p:sp>
      <p:sp>
        <p:nvSpPr>
          <p:cNvPr id="24" name="TextBox 23"/>
          <p:cNvSpPr txBox="1"/>
          <p:nvPr/>
        </p:nvSpPr>
        <p:spPr>
          <a:xfrm>
            <a:off x="896112" y="2871216"/>
            <a:ext cx="5074920" cy="261610"/>
          </a:xfrm>
          <a:prstGeom prst="rect">
            <a:avLst/>
          </a:prstGeom>
          <a:noFill/>
        </p:spPr>
        <p:txBody>
          <a:bodyPr wrap="square">
            <a:spAutoFit/>
          </a:bodyPr>
          <a:lstStyle/>
          <a:p>
            <a:pPr algn="l"/>
            <a:r>
              <a:rPr sz="1100" b="0" i="0" dirty="0">
                <a:solidFill>
                  <a:srgbClr val="CCCCCC"/>
                </a:solidFill>
              </a:rPr>
              <a:t>30+ automated tests: 24 unit, 12 integration, 10 system scenarios. </a:t>
            </a:r>
          </a:p>
        </p:txBody>
      </p:sp>
      <p:sp>
        <p:nvSpPr>
          <p:cNvPr id="25" name="Rectangle 24"/>
          <p:cNvSpPr/>
          <p:nvPr/>
        </p:nvSpPr>
        <p:spPr>
          <a:xfrm>
            <a:off x="6355080" y="3803904"/>
            <a:ext cx="5394960" cy="1188720"/>
          </a:xfrm>
          <a:prstGeom prst="rect">
            <a:avLst/>
          </a:prstGeom>
          <a:solidFill>
            <a:srgbClr val="1E1E35"/>
          </a:solidFill>
          <a:ln w="254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355080" y="3803904"/>
            <a:ext cx="164592" cy="118872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611112" y="3895344"/>
            <a:ext cx="5074920" cy="347472"/>
          </a:xfrm>
          <a:prstGeom prst="rect">
            <a:avLst/>
          </a:prstGeom>
          <a:noFill/>
        </p:spPr>
        <p:txBody>
          <a:bodyPr wrap="square">
            <a:spAutoFit/>
          </a:bodyPr>
          <a:lstStyle/>
          <a:p>
            <a:pPr algn="l"/>
            <a:r>
              <a:rPr sz="1300" b="1" i="0" dirty="0">
                <a:solidFill>
                  <a:srgbClr val="60A5FA"/>
                </a:solidFill>
              </a:rPr>
              <a:t>Architecture &amp; API Documentation</a:t>
            </a:r>
          </a:p>
        </p:txBody>
      </p:sp>
      <p:sp>
        <p:nvSpPr>
          <p:cNvPr id="28" name="TextBox 27"/>
          <p:cNvSpPr txBox="1"/>
          <p:nvPr/>
        </p:nvSpPr>
        <p:spPr>
          <a:xfrm>
            <a:off x="6611112" y="4224528"/>
            <a:ext cx="5074920" cy="430887"/>
          </a:xfrm>
          <a:prstGeom prst="rect">
            <a:avLst/>
          </a:prstGeom>
          <a:noFill/>
        </p:spPr>
        <p:txBody>
          <a:bodyPr wrap="square">
            <a:spAutoFit/>
          </a:bodyPr>
          <a:lstStyle/>
          <a:p>
            <a:pPr algn="l"/>
            <a:r>
              <a:rPr sz="1100" b="0" i="0" dirty="0">
                <a:solidFill>
                  <a:srgbClr val="CCCCCC"/>
                </a:solidFill>
              </a:rPr>
              <a:t>ARCHITECTURE.md, API.md, </a:t>
            </a:r>
            <a:r>
              <a:rPr sz="1100" b="0" i="0" dirty="0" err="1">
                <a:solidFill>
                  <a:srgbClr val="CCCCCC"/>
                </a:solidFill>
              </a:rPr>
              <a:t>JSDoc</a:t>
            </a:r>
            <a:r>
              <a:rPr sz="1100" b="0" i="0" dirty="0">
                <a:solidFill>
                  <a:srgbClr val="CCCCCC"/>
                </a:solidFill>
              </a:rPr>
              <a:t> / </a:t>
            </a:r>
            <a:r>
              <a:rPr sz="1100" b="0" i="0" dirty="0" err="1">
                <a:solidFill>
                  <a:srgbClr val="CCCCCC"/>
                </a:solidFill>
              </a:rPr>
              <a:t>JavaDoc</a:t>
            </a:r>
            <a:r>
              <a:rPr sz="1100" b="0" i="0" dirty="0">
                <a:solidFill>
                  <a:srgbClr val="CCCCCC"/>
                </a:solidFill>
              </a:rPr>
              <a:t> comments added across all major modules for final</a:t>
            </a:r>
            <a:r>
              <a:rPr lang="en-CA" sz="1100" b="0" i="0" dirty="0">
                <a:solidFill>
                  <a:srgbClr val="CCCCCC"/>
                </a:solidFill>
              </a:rPr>
              <a:t> </a:t>
            </a:r>
            <a:r>
              <a:rPr sz="1100" b="0" i="0" dirty="0">
                <a:solidFill>
                  <a:srgbClr val="CCCCCC"/>
                </a:solidFill>
              </a:rPr>
              <a:t>quality.</a:t>
            </a:r>
          </a:p>
        </p:txBody>
      </p:sp>
      <p:sp>
        <p:nvSpPr>
          <p:cNvPr id="32" name="Rectangle 31">
            <a:extLst>
              <a:ext uri="{FF2B5EF4-FFF2-40B4-BE49-F238E27FC236}">
                <a16:creationId xmlns:a16="http://schemas.microsoft.com/office/drawing/2014/main" id="{A4AFC020-8991-E15F-3EA1-6F0B2D56BF3D}"/>
              </a:ext>
            </a:extLst>
          </p:cNvPr>
          <p:cNvSpPr/>
          <p:nvPr/>
        </p:nvSpPr>
        <p:spPr>
          <a:xfrm>
            <a:off x="640080" y="3813048"/>
            <a:ext cx="5394960" cy="1188720"/>
          </a:xfrm>
          <a:prstGeom prst="rect">
            <a:avLst/>
          </a:prstGeom>
          <a:solidFill>
            <a:srgbClr val="1E1E35"/>
          </a:solidFill>
          <a:ln w="25400">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a:extLst>
              <a:ext uri="{FF2B5EF4-FFF2-40B4-BE49-F238E27FC236}">
                <a16:creationId xmlns:a16="http://schemas.microsoft.com/office/drawing/2014/main" id="{DA761B9F-BC4B-F1BC-48DA-A5A098173E68}"/>
              </a:ext>
            </a:extLst>
          </p:cNvPr>
          <p:cNvSpPr/>
          <p:nvPr/>
        </p:nvSpPr>
        <p:spPr>
          <a:xfrm>
            <a:off x="640080" y="3813048"/>
            <a:ext cx="164592" cy="118872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a:extLst>
              <a:ext uri="{FF2B5EF4-FFF2-40B4-BE49-F238E27FC236}">
                <a16:creationId xmlns:a16="http://schemas.microsoft.com/office/drawing/2014/main" id="{1D37FBB2-528B-F245-7AF9-17B89DBD9699}"/>
              </a:ext>
            </a:extLst>
          </p:cNvPr>
          <p:cNvSpPr txBox="1"/>
          <p:nvPr/>
        </p:nvSpPr>
        <p:spPr>
          <a:xfrm>
            <a:off x="896112" y="3904488"/>
            <a:ext cx="5074920" cy="292388"/>
          </a:xfrm>
          <a:prstGeom prst="rect">
            <a:avLst/>
          </a:prstGeom>
          <a:noFill/>
        </p:spPr>
        <p:txBody>
          <a:bodyPr wrap="square">
            <a:spAutoFit/>
          </a:bodyPr>
          <a:lstStyle/>
          <a:p>
            <a:pPr algn="l"/>
            <a:r>
              <a:rPr lang="en-CA" sz="1300" b="1" i="0" dirty="0">
                <a:solidFill>
                  <a:srgbClr val="FFC400"/>
                </a:solidFill>
              </a:rPr>
              <a:t>UI Rework</a:t>
            </a:r>
            <a:endParaRPr sz="1300" b="1" i="0" dirty="0">
              <a:solidFill>
                <a:srgbClr val="FFC400"/>
              </a:solidFill>
            </a:endParaRPr>
          </a:p>
        </p:txBody>
      </p:sp>
      <p:sp>
        <p:nvSpPr>
          <p:cNvPr id="35" name="TextBox 34">
            <a:extLst>
              <a:ext uri="{FF2B5EF4-FFF2-40B4-BE49-F238E27FC236}">
                <a16:creationId xmlns:a16="http://schemas.microsoft.com/office/drawing/2014/main" id="{642061FE-2DC5-B292-53D8-5FB5E4E7C707}"/>
              </a:ext>
            </a:extLst>
          </p:cNvPr>
          <p:cNvSpPr txBox="1"/>
          <p:nvPr/>
        </p:nvSpPr>
        <p:spPr>
          <a:xfrm>
            <a:off x="896112" y="4233672"/>
            <a:ext cx="5074920" cy="430887"/>
          </a:xfrm>
          <a:prstGeom prst="rect">
            <a:avLst/>
          </a:prstGeom>
          <a:noFill/>
        </p:spPr>
        <p:txBody>
          <a:bodyPr wrap="square">
            <a:spAutoFit/>
          </a:bodyPr>
          <a:lstStyle/>
          <a:p>
            <a:pPr algn="l"/>
            <a:r>
              <a:rPr lang="en-CA" sz="1100" b="0" i="0" dirty="0">
                <a:solidFill>
                  <a:srgbClr val="CCCCCC"/>
                </a:solidFill>
              </a:rPr>
              <a:t>An entire rework to our base white UI from the previous iterations, giving the app a more "casino" feel by expanding the main panels.</a:t>
            </a:r>
            <a:endParaRPr sz="1100" b="0" i="0" dirty="0">
              <a:solidFill>
                <a:srgbClr val="CCCCCC"/>
              </a:solidFill>
            </a:endParaRPr>
          </a:p>
        </p:txBody>
      </p:sp>
      <p:sp>
        <p:nvSpPr>
          <p:cNvPr id="36" name="Rectangle 35">
            <a:extLst>
              <a:ext uri="{FF2B5EF4-FFF2-40B4-BE49-F238E27FC236}">
                <a16:creationId xmlns:a16="http://schemas.microsoft.com/office/drawing/2014/main" id="{10D9CFFD-8D67-E314-08AA-81372277C540}"/>
              </a:ext>
            </a:extLst>
          </p:cNvPr>
          <p:cNvSpPr/>
          <p:nvPr/>
        </p:nvSpPr>
        <p:spPr>
          <a:xfrm>
            <a:off x="6355080" y="5157216"/>
            <a:ext cx="5394960" cy="1188720"/>
          </a:xfrm>
          <a:prstGeom prst="rect">
            <a:avLst/>
          </a:prstGeom>
          <a:solidFill>
            <a:srgbClr val="1E1E35"/>
          </a:solidFill>
          <a:ln w="254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a:extLst>
              <a:ext uri="{FF2B5EF4-FFF2-40B4-BE49-F238E27FC236}">
                <a16:creationId xmlns:a16="http://schemas.microsoft.com/office/drawing/2014/main" id="{74E1DE3D-6125-0B79-AA75-7DEC58451C4C}"/>
              </a:ext>
            </a:extLst>
          </p:cNvPr>
          <p:cNvSpPr/>
          <p:nvPr/>
        </p:nvSpPr>
        <p:spPr>
          <a:xfrm>
            <a:off x="6355080" y="5157216"/>
            <a:ext cx="164592" cy="118872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a:extLst>
              <a:ext uri="{FF2B5EF4-FFF2-40B4-BE49-F238E27FC236}">
                <a16:creationId xmlns:a16="http://schemas.microsoft.com/office/drawing/2014/main" id="{6A9E7DC7-03DE-01AB-082D-186EBC42956E}"/>
              </a:ext>
            </a:extLst>
          </p:cNvPr>
          <p:cNvSpPr txBox="1"/>
          <p:nvPr/>
        </p:nvSpPr>
        <p:spPr>
          <a:xfrm>
            <a:off x="6611112" y="5248656"/>
            <a:ext cx="5074920" cy="292388"/>
          </a:xfrm>
          <a:prstGeom prst="rect">
            <a:avLst/>
          </a:prstGeom>
          <a:noFill/>
        </p:spPr>
        <p:txBody>
          <a:bodyPr wrap="square">
            <a:spAutoFit/>
          </a:bodyPr>
          <a:lstStyle/>
          <a:p>
            <a:pPr algn="l"/>
            <a:r>
              <a:rPr lang="en-CA" sz="1300" b="1" i="0" dirty="0">
                <a:solidFill>
                  <a:srgbClr val="F87171"/>
                </a:solidFill>
              </a:rPr>
              <a:t>QoL improvements</a:t>
            </a:r>
            <a:endParaRPr sz="1300" b="1" i="0" dirty="0">
              <a:solidFill>
                <a:srgbClr val="F87171"/>
              </a:solidFill>
            </a:endParaRPr>
          </a:p>
        </p:txBody>
      </p:sp>
      <p:sp>
        <p:nvSpPr>
          <p:cNvPr id="39" name="TextBox 38">
            <a:extLst>
              <a:ext uri="{FF2B5EF4-FFF2-40B4-BE49-F238E27FC236}">
                <a16:creationId xmlns:a16="http://schemas.microsoft.com/office/drawing/2014/main" id="{46C0F27E-B020-9F5D-B609-2AA92391AF56}"/>
              </a:ext>
            </a:extLst>
          </p:cNvPr>
          <p:cNvSpPr txBox="1"/>
          <p:nvPr/>
        </p:nvSpPr>
        <p:spPr>
          <a:xfrm>
            <a:off x="6611112" y="5577840"/>
            <a:ext cx="5074920" cy="430887"/>
          </a:xfrm>
          <a:prstGeom prst="rect">
            <a:avLst/>
          </a:prstGeom>
          <a:noFill/>
        </p:spPr>
        <p:txBody>
          <a:bodyPr wrap="square">
            <a:spAutoFit/>
          </a:bodyPr>
          <a:lstStyle/>
          <a:p>
            <a:pPr algn="l"/>
            <a:r>
              <a:rPr lang="en-CA" sz="1100" b="0" i="0" dirty="0">
                <a:solidFill>
                  <a:srgbClr val="CCCCCC"/>
                </a:solidFill>
              </a:rPr>
              <a:t>New quick access cells across the many pages to enhance existing and new user experiences.</a:t>
            </a:r>
            <a:endParaRPr sz="1100" b="0" i="0" dirty="0">
              <a:solidFill>
                <a:srgbClr val="CCCCCC"/>
              </a:solidFill>
            </a:endParaRPr>
          </a:p>
        </p:txBody>
      </p:sp>
      <p:pic>
        <p:nvPicPr>
          <p:cNvPr id="41" name="Picture 40">
            <a:extLst>
              <a:ext uri="{FF2B5EF4-FFF2-40B4-BE49-F238E27FC236}">
                <a16:creationId xmlns:a16="http://schemas.microsoft.com/office/drawing/2014/main" id="{CB997518-8B46-FDBA-9B68-4567E02F60C4}"/>
              </a:ext>
            </a:extLst>
          </p:cNvPr>
          <p:cNvPicPr>
            <a:picLocks noChangeAspect="1"/>
          </p:cNvPicPr>
          <p:nvPr/>
        </p:nvPicPr>
        <p:blipFill>
          <a:blip r:embed="rId2"/>
          <a:stretch>
            <a:fillRect/>
          </a:stretch>
        </p:blipFill>
        <p:spPr>
          <a:xfrm>
            <a:off x="502921" y="5410982"/>
            <a:ext cx="1348740" cy="13487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2121E"/>
        </a:solidFill>
        <a:effectLst/>
      </p:bgPr>
    </p:bg>
    <p:spTree>
      <p:nvGrpSpPr>
        <p:cNvPr id="1" name=""/>
        <p:cNvGrpSpPr/>
        <p:nvPr/>
      </p:nvGrpSpPr>
      <p:grpSpPr>
        <a:xfrm>
          <a:off x="0" y="0"/>
          <a:ext cx="0" cy="0"/>
          <a:chOff x="0" y="0"/>
          <a:chExt cx="0" cy="0"/>
        </a:xfrm>
      </p:grpSpPr>
      <p:sp>
        <p:nvSpPr>
          <p:cNvPr id="2" name="Rectangle 1"/>
          <p:cNvSpPr/>
          <p:nvPr/>
        </p:nvSpPr>
        <p:spPr>
          <a:xfrm>
            <a:off x="0" y="0"/>
            <a:ext cx="320040" cy="685800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28600"/>
            <a:ext cx="9144000" cy="594360"/>
          </a:xfrm>
          <a:prstGeom prst="rect">
            <a:avLst/>
          </a:prstGeom>
          <a:noFill/>
        </p:spPr>
        <p:txBody>
          <a:bodyPr wrap="square">
            <a:spAutoFit/>
          </a:bodyPr>
          <a:lstStyle/>
          <a:p>
            <a:pPr algn="l"/>
            <a:r>
              <a:rPr sz="3200" b="1" i="0">
                <a:solidFill>
                  <a:srgbClr val="FFC400"/>
                </a:solidFill>
              </a:rPr>
              <a:t>Documentation &amp; Deliverables</a:t>
            </a:r>
          </a:p>
        </p:txBody>
      </p:sp>
      <p:sp>
        <p:nvSpPr>
          <p:cNvPr id="4" name="Rectangle 3"/>
          <p:cNvSpPr/>
          <p:nvPr/>
        </p:nvSpPr>
        <p:spPr>
          <a:xfrm>
            <a:off x="612648" y="914400"/>
            <a:ext cx="10972800" cy="2540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97280"/>
            <a:ext cx="5303520" cy="34747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03504" y="1109980"/>
            <a:ext cx="5193792" cy="347472"/>
          </a:xfrm>
          <a:prstGeom prst="rect">
            <a:avLst/>
          </a:prstGeom>
          <a:noFill/>
        </p:spPr>
        <p:txBody>
          <a:bodyPr wrap="square">
            <a:spAutoFit/>
          </a:bodyPr>
          <a:lstStyle/>
          <a:p>
            <a:pPr algn="l"/>
            <a:r>
              <a:rPr sz="1200" b="1" i="0">
                <a:solidFill>
                  <a:srgbClr val="12121E"/>
                </a:solidFill>
              </a:rPr>
              <a:t>Developer Docs</a:t>
            </a:r>
          </a:p>
        </p:txBody>
      </p:sp>
      <p:sp>
        <p:nvSpPr>
          <p:cNvPr id="7" name="TextBox 6"/>
          <p:cNvSpPr txBox="1"/>
          <p:nvPr/>
        </p:nvSpPr>
        <p:spPr>
          <a:xfrm>
            <a:off x="685800" y="1508760"/>
            <a:ext cx="5120640" cy="274320"/>
          </a:xfrm>
          <a:prstGeom prst="rect">
            <a:avLst/>
          </a:prstGeom>
          <a:noFill/>
        </p:spPr>
        <p:txBody>
          <a:bodyPr wrap="square">
            <a:spAutoFit/>
          </a:bodyPr>
          <a:lstStyle/>
          <a:p>
            <a:pPr algn="l"/>
            <a:r>
              <a:rPr sz="1150" b="0" i="0" dirty="0">
                <a:solidFill>
                  <a:srgbClr val="CCCCCC"/>
                </a:solidFill>
              </a:rPr>
              <a:t>▸  </a:t>
            </a:r>
            <a:r>
              <a:rPr sz="1150" b="0" i="0" dirty="0" err="1">
                <a:solidFill>
                  <a:srgbClr val="CCCCCC"/>
                </a:solidFill>
              </a:rPr>
              <a:t>JavaDoc</a:t>
            </a:r>
            <a:r>
              <a:rPr sz="1150" b="0" i="0" dirty="0">
                <a:solidFill>
                  <a:srgbClr val="CCCCCC"/>
                </a:solidFill>
              </a:rPr>
              <a:t> </a:t>
            </a:r>
            <a:r>
              <a:rPr lang="en-CA" sz="1150" b="0" i="0" dirty="0">
                <a:solidFill>
                  <a:srgbClr val="CCCCCC"/>
                </a:solidFill>
              </a:rPr>
              <a:t>-</a:t>
            </a:r>
            <a:r>
              <a:rPr sz="1150" b="0" i="0" dirty="0">
                <a:solidFill>
                  <a:srgbClr val="CCCCCC"/>
                </a:solidFill>
              </a:rPr>
              <a:t> </a:t>
            </a:r>
            <a:r>
              <a:rPr sz="1150" b="0" i="0" dirty="0" err="1">
                <a:solidFill>
                  <a:srgbClr val="CCCCCC"/>
                </a:solidFill>
              </a:rPr>
              <a:t>ConnectionHandler</a:t>
            </a:r>
            <a:r>
              <a:rPr sz="1150" b="0" i="0" dirty="0">
                <a:solidFill>
                  <a:srgbClr val="CCCCCC"/>
                </a:solidFill>
              </a:rPr>
              <a:t>, </a:t>
            </a:r>
            <a:r>
              <a:rPr sz="1150" b="0" i="0" dirty="0" err="1">
                <a:solidFill>
                  <a:srgbClr val="CCCCCC"/>
                </a:solidFill>
              </a:rPr>
              <a:t>AuthHelper</a:t>
            </a:r>
            <a:r>
              <a:rPr sz="1150" b="0" i="0" dirty="0">
                <a:solidFill>
                  <a:srgbClr val="CCCCCC"/>
                </a:solidFill>
              </a:rPr>
              <a:t>, Server</a:t>
            </a:r>
          </a:p>
        </p:txBody>
      </p:sp>
      <p:sp>
        <p:nvSpPr>
          <p:cNvPr id="8" name="TextBox 7"/>
          <p:cNvSpPr txBox="1"/>
          <p:nvPr/>
        </p:nvSpPr>
        <p:spPr>
          <a:xfrm>
            <a:off x="685800" y="1783080"/>
            <a:ext cx="5120640" cy="274320"/>
          </a:xfrm>
          <a:prstGeom prst="rect">
            <a:avLst/>
          </a:prstGeom>
          <a:noFill/>
        </p:spPr>
        <p:txBody>
          <a:bodyPr wrap="square">
            <a:spAutoFit/>
          </a:bodyPr>
          <a:lstStyle/>
          <a:p>
            <a:pPr algn="l"/>
            <a:r>
              <a:rPr sz="1150" b="0" i="0" dirty="0">
                <a:solidFill>
                  <a:srgbClr val="CCCCCC"/>
                </a:solidFill>
              </a:rPr>
              <a:t>▸  </a:t>
            </a:r>
            <a:r>
              <a:rPr sz="1150" b="0" i="0" dirty="0" err="1">
                <a:solidFill>
                  <a:srgbClr val="CCCCCC"/>
                </a:solidFill>
              </a:rPr>
              <a:t>JSDoc</a:t>
            </a:r>
            <a:r>
              <a:rPr sz="1150" b="0" i="0" dirty="0">
                <a:solidFill>
                  <a:srgbClr val="CCCCCC"/>
                </a:solidFill>
              </a:rPr>
              <a:t>  </a:t>
            </a:r>
            <a:r>
              <a:rPr lang="en-CA" sz="1150" b="0" i="0" dirty="0">
                <a:solidFill>
                  <a:srgbClr val="CCCCCC"/>
                </a:solidFill>
              </a:rPr>
              <a:t>-</a:t>
            </a:r>
            <a:r>
              <a:rPr sz="1150" b="0" i="0" dirty="0">
                <a:solidFill>
                  <a:srgbClr val="CCCCCC"/>
                </a:solidFill>
              </a:rPr>
              <a:t> game.js, auth.js, friends.js, rec.js</a:t>
            </a:r>
          </a:p>
        </p:txBody>
      </p:sp>
      <p:sp>
        <p:nvSpPr>
          <p:cNvPr id="9" name="TextBox 8"/>
          <p:cNvSpPr txBox="1"/>
          <p:nvPr/>
        </p:nvSpPr>
        <p:spPr>
          <a:xfrm>
            <a:off x="685800" y="2057400"/>
            <a:ext cx="5120640" cy="274320"/>
          </a:xfrm>
          <a:prstGeom prst="rect">
            <a:avLst/>
          </a:prstGeom>
          <a:noFill/>
        </p:spPr>
        <p:txBody>
          <a:bodyPr wrap="square">
            <a:spAutoFit/>
          </a:bodyPr>
          <a:lstStyle/>
          <a:p>
            <a:pPr algn="l"/>
            <a:r>
              <a:rPr sz="1150" b="0" i="0" dirty="0">
                <a:solidFill>
                  <a:srgbClr val="CCCCCC"/>
                </a:solidFill>
              </a:rPr>
              <a:t>▸  ARCHITECTURE.md </a:t>
            </a:r>
            <a:r>
              <a:rPr lang="en-CA" sz="1150" b="0" i="0" dirty="0">
                <a:solidFill>
                  <a:srgbClr val="CCCCCC"/>
                </a:solidFill>
              </a:rPr>
              <a:t>-</a:t>
            </a:r>
            <a:r>
              <a:rPr sz="1150" b="0" i="0" dirty="0">
                <a:solidFill>
                  <a:srgbClr val="CCCCCC"/>
                </a:solidFill>
              </a:rPr>
              <a:t> component diagram + data flow</a:t>
            </a:r>
          </a:p>
        </p:txBody>
      </p:sp>
      <p:sp>
        <p:nvSpPr>
          <p:cNvPr id="10" name="TextBox 9"/>
          <p:cNvSpPr txBox="1"/>
          <p:nvPr/>
        </p:nvSpPr>
        <p:spPr>
          <a:xfrm>
            <a:off x="685800" y="2331720"/>
            <a:ext cx="5120640" cy="274320"/>
          </a:xfrm>
          <a:prstGeom prst="rect">
            <a:avLst/>
          </a:prstGeom>
          <a:noFill/>
        </p:spPr>
        <p:txBody>
          <a:bodyPr wrap="square">
            <a:spAutoFit/>
          </a:bodyPr>
          <a:lstStyle/>
          <a:p>
            <a:pPr algn="l"/>
            <a:r>
              <a:rPr sz="1150" b="0" i="0" dirty="0">
                <a:solidFill>
                  <a:srgbClr val="CCCCCC"/>
                </a:solidFill>
              </a:rPr>
              <a:t>▸  API.md  </a:t>
            </a:r>
            <a:r>
              <a:rPr lang="en-CA" sz="1150" b="0" i="0" dirty="0">
                <a:solidFill>
                  <a:srgbClr val="CCCCCC"/>
                </a:solidFill>
              </a:rPr>
              <a:t>-</a:t>
            </a:r>
            <a:r>
              <a:rPr sz="1150" b="0" i="0" dirty="0">
                <a:solidFill>
                  <a:srgbClr val="CCCCCC"/>
                </a:solidFill>
              </a:rPr>
              <a:t> all REST endpoints with request / response</a:t>
            </a:r>
          </a:p>
        </p:txBody>
      </p:sp>
      <p:sp>
        <p:nvSpPr>
          <p:cNvPr id="11" name="Rectangle 10"/>
          <p:cNvSpPr/>
          <p:nvPr/>
        </p:nvSpPr>
        <p:spPr>
          <a:xfrm>
            <a:off x="548640" y="2788920"/>
            <a:ext cx="5303520" cy="34747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03504" y="2801620"/>
            <a:ext cx="5193792" cy="347472"/>
          </a:xfrm>
          <a:prstGeom prst="rect">
            <a:avLst/>
          </a:prstGeom>
          <a:noFill/>
        </p:spPr>
        <p:txBody>
          <a:bodyPr wrap="square">
            <a:spAutoFit/>
          </a:bodyPr>
          <a:lstStyle/>
          <a:p>
            <a:pPr algn="l"/>
            <a:r>
              <a:rPr sz="1200" b="1" i="0">
                <a:solidFill>
                  <a:srgbClr val="12121E"/>
                </a:solidFill>
              </a:rPr>
              <a:t>Iteration Artefacts</a:t>
            </a:r>
          </a:p>
        </p:txBody>
      </p:sp>
      <p:sp>
        <p:nvSpPr>
          <p:cNvPr id="13" name="TextBox 12"/>
          <p:cNvSpPr txBox="1"/>
          <p:nvPr/>
        </p:nvSpPr>
        <p:spPr>
          <a:xfrm>
            <a:off x="685800" y="3200400"/>
            <a:ext cx="5120640" cy="274320"/>
          </a:xfrm>
          <a:prstGeom prst="rect">
            <a:avLst/>
          </a:prstGeom>
          <a:noFill/>
        </p:spPr>
        <p:txBody>
          <a:bodyPr wrap="square">
            <a:spAutoFit/>
          </a:bodyPr>
          <a:lstStyle/>
          <a:p>
            <a:pPr algn="l"/>
            <a:r>
              <a:rPr sz="1150" b="0" i="0">
                <a:solidFill>
                  <a:srgbClr val="CCCCCC"/>
                </a:solidFill>
              </a:rPr>
              <a:t>▸  Burndown charts (Iter 1, 2, 3)</a:t>
            </a:r>
          </a:p>
        </p:txBody>
      </p:sp>
      <p:sp>
        <p:nvSpPr>
          <p:cNvPr id="14" name="TextBox 13"/>
          <p:cNvSpPr txBox="1"/>
          <p:nvPr/>
        </p:nvSpPr>
        <p:spPr>
          <a:xfrm>
            <a:off x="685800" y="3474720"/>
            <a:ext cx="5120640" cy="274320"/>
          </a:xfrm>
          <a:prstGeom prst="rect">
            <a:avLst/>
          </a:prstGeom>
          <a:noFill/>
        </p:spPr>
        <p:txBody>
          <a:bodyPr wrap="square">
            <a:spAutoFit/>
          </a:bodyPr>
          <a:lstStyle/>
          <a:p>
            <a:pPr algn="l"/>
            <a:r>
              <a:rPr sz="1150" b="0" i="0">
                <a:solidFill>
                  <a:srgbClr val="CCCCCC"/>
                </a:solidFill>
              </a:rPr>
              <a:t>▸  Task boards per iteration</a:t>
            </a:r>
          </a:p>
        </p:txBody>
      </p:sp>
      <p:sp>
        <p:nvSpPr>
          <p:cNvPr id="15" name="TextBox 14"/>
          <p:cNvSpPr txBox="1"/>
          <p:nvPr/>
        </p:nvSpPr>
        <p:spPr>
          <a:xfrm>
            <a:off x="685800" y="3749040"/>
            <a:ext cx="5120640" cy="274320"/>
          </a:xfrm>
          <a:prstGeom prst="rect">
            <a:avLst/>
          </a:prstGeom>
          <a:noFill/>
        </p:spPr>
        <p:txBody>
          <a:bodyPr wrap="square">
            <a:spAutoFit/>
          </a:bodyPr>
          <a:lstStyle/>
          <a:p>
            <a:pPr algn="l"/>
            <a:r>
              <a:rPr sz="1150" b="0" i="0">
                <a:solidFill>
                  <a:srgbClr val="CCCCCC"/>
                </a:solidFill>
              </a:rPr>
              <a:t>▸  Retrospective &amp; velocity write-ups</a:t>
            </a:r>
          </a:p>
        </p:txBody>
      </p:sp>
      <p:sp>
        <p:nvSpPr>
          <p:cNvPr id="16" name="TextBox 15"/>
          <p:cNvSpPr txBox="1"/>
          <p:nvPr/>
        </p:nvSpPr>
        <p:spPr>
          <a:xfrm>
            <a:off x="685800" y="4023360"/>
            <a:ext cx="5120640" cy="274320"/>
          </a:xfrm>
          <a:prstGeom prst="rect">
            <a:avLst/>
          </a:prstGeom>
          <a:noFill/>
        </p:spPr>
        <p:txBody>
          <a:bodyPr wrap="square">
            <a:spAutoFit/>
          </a:bodyPr>
          <a:lstStyle/>
          <a:p>
            <a:pPr algn="l"/>
            <a:r>
              <a:rPr sz="1150" b="0" i="0">
                <a:solidFill>
                  <a:srgbClr val="CCCCCC"/>
                </a:solidFill>
              </a:rPr>
              <a:t>▸  UML class &amp; sequence diagrams (Iter 1)</a:t>
            </a:r>
          </a:p>
        </p:txBody>
      </p:sp>
      <p:sp>
        <p:nvSpPr>
          <p:cNvPr id="17" name="TextBox 16"/>
          <p:cNvSpPr txBox="1"/>
          <p:nvPr/>
        </p:nvSpPr>
        <p:spPr>
          <a:xfrm>
            <a:off x="685800" y="4297680"/>
            <a:ext cx="5120640" cy="274320"/>
          </a:xfrm>
          <a:prstGeom prst="rect">
            <a:avLst/>
          </a:prstGeom>
          <a:noFill/>
        </p:spPr>
        <p:txBody>
          <a:bodyPr wrap="square">
            <a:spAutoFit/>
          </a:bodyPr>
          <a:lstStyle/>
          <a:p>
            <a:pPr algn="l"/>
            <a:r>
              <a:rPr sz="1150" b="0" i="0">
                <a:solidFill>
                  <a:srgbClr val="CCCCCC"/>
                </a:solidFill>
              </a:rPr>
              <a:t>▸  WebSocket state chart (Iter 2)</a:t>
            </a:r>
          </a:p>
        </p:txBody>
      </p:sp>
      <p:sp>
        <p:nvSpPr>
          <p:cNvPr id="18" name="Rectangle 17"/>
          <p:cNvSpPr/>
          <p:nvPr/>
        </p:nvSpPr>
        <p:spPr>
          <a:xfrm>
            <a:off x="6217920" y="1097280"/>
            <a:ext cx="5303520" cy="34747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72784" y="1109980"/>
            <a:ext cx="5193792" cy="347472"/>
          </a:xfrm>
          <a:prstGeom prst="rect">
            <a:avLst/>
          </a:prstGeom>
          <a:noFill/>
        </p:spPr>
        <p:txBody>
          <a:bodyPr wrap="square">
            <a:spAutoFit/>
          </a:bodyPr>
          <a:lstStyle/>
          <a:p>
            <a:pPr algn="l"/>
            <a:r>
              <a:rPr sz="1200" b="1" i="0">
                <a:solidFill>
                  <a:srgbClr val="12121E"/>
                </a:solidFill>
              </a:rPr>
              <a:t>User-Facing Docs</a:t>
            </a:r>
          </a:p>
        </p:txBody>
      </p:sp>
      <p:sp>
        <p:nvSpPr>
          <p:cNvPr id="20" name="TextBox 19"/>
          <p:cNvSpPr txBox="1"/>
          <p:nvPr/>
        </p:nvSpPr>
        <p:spPr>
          <a:xfrm>
            <a:off x="6355080" y="1508760"/>
            <a:ext cx="5120640" cy="274320"/>
          </a:xfrm>
          <a:prstGeom prst="rect">
            <a:avLst/>
          </a:prstGeom>
          <a:noFill/>
        </p:spPr>
        <p:txBody>
          <a:bodyPr wrap="square">
            <a:spAutoFit/>
          </a:bodyPr>
          <a:lstStyle/>
          <a:p>
            <a:pPr algn="l"/>
            <a:r>
              <a:rPr sz="1150" b="0" i="0" dirty="0">
                <a:solidFill>
                  <a:srgbClr val="CCCCCC"/>
                </a:solidFill>
              </a:rPr>
              <a:t>▸  README.md </a:t>
            </a:r>
            <a:r>
              <a:rPr lang="en-CA" sz="1150" b="0" i="0" dirty="0">
                <a:solidFill>
                  <a:srgbClr val="CCCCCC"/>
                </a:solidFill>
              </a:rPr>
              <a:t>-</a:t>
            </a:r>
            <a:r>
              <a:rPr sz="1150" b="0" i="0" dirty="0">
                <a:solidFill>
                  <a:srgbClr val="CCCCCC"/>
                </a:solidFill>
              </a:rPr>
              <a:t> quick-start, prerequisites, Docker</a:t>
            </a:r>
          </a:p>
        </p:txBody>
      </p:sp>
      <p:sp>
        <p:nvSpPr>
          <p:cNvPr id="21" name="TextBox 20"/>
          <p:cNvSpPr txBox="1"/>
          <p:nvPr/>
        </p:nvSpPr>
        <p:spPr>
          <a:xfrm>
            <a:off x="6355080" y="1783080"/>
            <a:ext cx="5120640" cy="274320"/>
          </a:xfrm>
          <a:prstGeom prst="rect">
            <a:avLst/>
          </a:prstGeom>
          <a:noFill/>
        </p:spPr>
        <p:txBody>
          <a:bodyPr wrap="square">
            <a:spAutoFit/>
          </a:bodyPr>
          <a:lstStyle/>
          <a:p>
            <a:pPr algn="l"/>
            <a:r>
              <a:rPr sz="1150" b="0" i="0">
                <a:solidFill>
                  <a:srgbClr val="CCCCCC"/>
                </a:solidFill>
              </a:rPr>
              <a:t>▸  In-app game rules (tooltip per game panel)</a:t>
            </a:r>
          </a:p>
        </p:txBody>
      </p:sp>
      <p:sp>
        <p:nvSpPr>
          <p:cNvPr id="22" name="TextBox 21"/>
          <p:cNvSpPr txBox="1"/>
          <p:nvPr/>
        </p:nvSpPr>
        <p:spPr>
          <a:xfrm>
            <a:off x="6355080" y="2057400"/>
            <a:ext cx="5120640" cy="274320"/>
          </a:xfrm>
          <a:prstGeom prst="rect">
            <a:avLst/>
          </a:prstGeom>
          <a:noFill/>
        </p:spPr>
        <p:txBody>
          <a:bodyPr wrap="square">
            <a:spAutoFit/>
          </a:bodyPr>
          <a:lstStyle/>
          <a:p>
            <a:pPr algn="l"/>
            <a:r>
              <a:rPr sz="1150" b="0" i="0" dirty="0">
                <a:solidFill>
                  <a:srgbClr val="CCCCCC"/>
                </a:solidFill>
              </a:rPr>
              <a:t>▸  </a:t>
            </a:r>
            <a:r>
              <a:rPr lang="en-CA" sz="1150" b="0" i="0" dirty="0">
                <a:solidFill>
                  <a:srgbClr val="CCCCCC"/>
                </a:solidFill>
              </a:rPr>
              <a:t>Different </a:t>
            </a:r>
            <a:r>
              <a:rPr sz="1150" b="0" i="0" dirty="0" err="1">
                <a:solidFill>
                  <a:srgbClr val="CCCCCC"/>
                </a:solidFill>
              </a:rPr>
              <a:t>expla</a:t>
            </a:r>
            <a:r>
              <a:rPr lang="en-CA" sz="1150" b="0" i="0" dirty="0">
                <a:solidFill>
                  <a:srgbClr val="CCCCCC"/>
                </a:solidFill>
              </a:rPr>
              <a:t>nation cards on the various pages</a:t>
            </a:r>
            <a:endParaRPr sz="1150" b="0" i="0" dirty="0">
              <a:solidFill>
                <a:srgbClr val="CCCCCC"/>
              </a:solidFill>
            </a:endParaRPr>
          </a:p>
        </p:txBody>
      </p:sp>
      <p:sp>
        <p:nvSpPr>
          <p:cNvPr id="23" name="Rectangle 22"/>
          <p:cNvSpPr/>
          <p:nvPr/>
        </p:nvSpPr>
        <p:spPr>
          <a:xfrm>
            <a:off x="6217920" y="2514600"/>
            <a:ext cx="5303520" cy="34747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72784" y="2527300"/>
            <a:ext cx="5193792" cy="347472"/>
          </a:xfrm>
          <a:prstGeom prst="rect">
            <a:avLst/>
          </a:prstGeom>
          <a:noFill/>
        </p:spPr>
        <p:txBody>
          <a:bodyPr wrap="square">
            <a:spAutoFit/>
          </a:bodyPr>
          <a:lstStyle/>
          <a:p>
            <a:pPr algn="l"/>
            <a:r>
              <a:rPr sz="1200" b="1" i="0">
                <a:solidFill>
                  <a:srgbClr val="12121E"/>
                </a:solidFill>
              </a:rPr>
              <a:t>Project Write-ups</a:t>
            </a:r>
          </a:p>
        </p:txBody>
      </p:sp>
      <p:sp>
        <p:nvSpPr>
          <p:cNvPr id="25" name="TextBox 24"/>
          <p:cNvSpPr txBox="1"/>
          <p:nvPr/>
        </p:nvSpPr>
        <p:spPr>
          <a:xfrm>
            <a:off x="6355080" y="2926080"/>
            <a:ext cx="5120640" cy="274320"/>
          </a:xfrm>
          <a:prstGeom prst="rect">
            <a:avLst/>
          </a:prstGeom>
          <a:noFill/>
        </p:spPr>
        <p:txBody>
          <a:bodyPr wrap="square">
            <a:spAutoFit/>
          </a:bodyPr>
          <a:lstStyle/>
          <a:p>
            <a:pPr algn="l"/>
            <a:r>
              <a:rPr sz="1150" b="0" i="0" dirty="0">
                <a:solidFill>
                  <a:srgbClr val="CCCCCC"/>
                </a:solidFill>
              </a:rPr>
              <a:t>▸  ITERATION3_WRITEUP.md </a:t>
            </a:r>
            <a:r>
              <a:rPr lang="en-CA" sz="1150" b="0" i="0" dirty="0">
                <a:solidFill>
                  <a:srgbClr val="CCCCCC"/>
                </a:solidFill>
              </a:rPr>
              <a:t>-</a:t>
            </a:r>
            <a:r>
              <a:rPr sz="1150" b="0" i="0" dirty="0">
                <a:solidFill>
                  <a:srgbClr val="CCCCCC"/>
                </a:solidFill>
              </a:rPr>
              <a:t> architecture narrative</a:t>
            </a:r>
          </a:p>
        </p:txBody>
      </p:sp>
      <p:sp>
        <p:nvSpPr>
          <p:cNvPr id="26" name="TextBox 25"/>
          <p:cNvSpPr txBox="1"/>
          <p:nvPr/>
        </p:nvSpPr>
        <p:spPr>
          <a:xfrm>
            <a:off x="6355080" y="3200400"/>
            <a:ext cx="5120640" cy="274320"/>
          </a:xfrm>
          <a:prstGeom prst="rect">
            <a:avLst/>
          </a:prstGeom>
          <a:noFill/>
        </p:spPr>
        <p:txBody>
          <a:bodyPr wrap="square">
            <a:spAutoFit/>
          </a:bodyPr>
          <a:lstStyle/>
          <a:p>
            <a:pPr algn="l"/>
            <a:r>
              <a:rPr sz="1150" b="0" i="0" dirty="0">
                <a:solidFill>
                  <a:srgbClr val="CCCCCC"/>
                </a:solidFill>
              </a:rPr>
              <a:t>▸  ITERATION3_CUSTOMER_MEETING.md </a:t>
            </a:r>
            <a:r>
              <a:rPr lang="en-CA" sz="1150" b="0" i="0" dirty="0">
                <a:solidFill>
                  <a:srgbClr val="CCCCCC"/>
                </a:solidFill>
              </a:rPr>
              <a:t>-</a:t>
            </a:r>
            <a:r>
              <a:rPr sz="1150" b="0" i="0" dirty="0">
                <a:solidFill>
                  <a:srgbClr val="CCCCCC"/>
                </a:solidFill>
              </a:rPr>
              <a:t> feature list,</a:t>
            </a:r>
          </a:p>
        </p:txBody>
      </p:sp>
      <p:sp>
        <p:nvSpPr>
          <p:cNvPr id="27" name="TextBox 26"/>
          <p:cNvSpPr txBox="1"/>
          <p:nvPr/>
        </p:nvSpPr>
        <p:spPr>
          <a:xfrm>
            <a:off x="6355080" y="3474720"/>
            <a:ext cx="5120640" cy="274320"/>
          </a:xfrm>
          <a:prstGeom prst="rect">
            <a:avLst/>
          </a:prstGeom>
          <a:noFill/>
        </p:spPr>
        <p:txBody>
          <a:bodyPr wrap="square">
            <a:spAutoFit/>
          </a:bodyPr>
          <a:lstStyle/>
          <a:p>
            <a:pPr algn="l"/>
            <a:r>
              <a:rPr sz="1150" b="0" i="0" dirty="0">
                <a:solidFill>
                  <a:srgbClr val="CCCCCC"/>
                </a:solidFill>
              </a:rPr>
              <a:t>▸  test plan &amp; documentation commitments</a:t>
            </a:r>
          </a:p>
        </p:txBody>
      </p:sp>
      <p:sp>
        <p:nvSpPr>
          <p:cNvPr id="28" name="TextBox 27"/>
          <p:cNvSpPr txBox="1"/>
          <p:nvPr/>
        </p:nvSpPr>
        <p:spPr>
          <a:xfrm>
            <a:off x="6355080" y="3749040"/>
            <a:ext cx="5120640" cy="274320"/>
          </a:xfrm>
          <a:prstGeom prst="rect">
            <a:avLst/>
          </a:prstGeom>
          <a:noFill/>
        </p:spPr>
        <p:txBody>
          <a:bodyPr wrap="square">
            <a:spAutoFit/>
          </a:bodyPr>
          <a:lstStyle/>
          <a:p>
            <a:pPr algn="l"/>
            <a:r>
              <a:rPr sz="1150" b="0" i="0" dirty="0">
                <a:solidFill>
                  <a:srgbClr val="CCCCCC"/>
                </a:solidFill>
              </a:rPr>
              <a:t>▸  All docs </a:t>
            </a:r>
            <a:r>
              <a:rPr lang="en-CA" sz="1150" b="0" i="0" dirty="0">
                <a:solidFill>
                  <a:srgbClr val="CCCCCC"/>
                </a:solidFill>
              </a:rPr>
              <a:t>are </a:t>
            </a:r>
            <a:r>
              <a:rPr sz="1150" b="0" i="0" dirty="0">
                <a:solidFill>
                  <a:srgbClr val="CCCCCC"/>
                </a:solidFill>
              </a:rPr>
              <a:t>committed to /docs/ in the repository</a:t>
            </a:r>
          </a:p>
        </p:txBody>
      </p:sp>
      <p:pic>
        <p:nvPicPr>
          <p:cNvPr id="29" name="Picture 28">
            <a:extLst>
              <a:ext uri="{FF2B5EF4-FFF2-40B4-BE49-F238E27FC236}">
                <a16:creationId xmlns:a16="http://schemas.microsoft.com/office/drawing/2014/main" id="{EAD2484B-BE10-8A45-A830-A73D2D170C6D}"/>
              </a:ext>
            </a:extLst>
          </p:cNvPr>
          <p:cNvPicPr>
            <a:picLocks noChangeAspect="1"/>
          </p:cNvPicPr>
          <p:nvPr/>
        </p:nvPicPr>
        <p:blipFill>
          <a:blip r:embed="rId2"/>
          <a:stretch>
            <a:fillRect/>
          </a:stretch>
        </p:blipFill>
        <p:spPr>
          <a:xfrm>
            <a:off x="502921" y="5410982"/>
            <a:ext cx="1348740" cy="13487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2121E"/>
        </a:solidFill>
        <a:effectLst/>
      </p:bgPr>
    </p:bg>
    <p:spTree>
      <p:nvGrpSpPr>
        <p:cNvPr id="1" name=""/>
        <p:cNvGrpSpPr/>
        <p:nvPr/>
      </p:nvGrpSpPr>
      <p:grpSpPr>
        <a:xfrm>
          <a:off x="0" y="0"/>
          <a:ext cx="0" cy="0"/>
          <a:chOff x="0" y="0"/>
          <a:chExt cx="0" cy="0"/>
        </a:xfrm>
      </p:grpSpPr>
      <p:sp>
        <p:nvSpPr>
          <p:cNvPr id="2" name="Rectangle 1"/>
          <p:cNvSpPr/>
          <p:nvPr/>
        </p:nvSpPr>
        <p:spPr>
          <a:xfrm>
            <a:off x="0" y="0"/>
            <a:ext cx="320040" cy="685800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28600"/>
            <a:ext cx="9144000" cy="594360"/>
          </a:xfrm>
          <a:prstGeom prst="rect">
            <a:avLst/>
          </a:prstGeom>
          <a:noFill/>
        </p:spPr>
        <p:txBody>
          <a:bodyPr wrap="square">
            <a:spAutoFit/>
          </a:bodyPr>
          <a:lstStyle/>
          <a:p>
            <a:pPr algn="l"/>
            <a:r>
              <a:rPr sz="3200" b="1" i="0" dirty="0">
                <a:solidFill>
                  <a:srgbClr val="FFC400"/>
                </a:solidFill>
              </a:rPr>
              <a:t>Iteration 3 </a:t>
            </a:r>
            <a:r>
              <a:rPr lang="en-CA" sz="3200" b="1" i="0" dirty="0">
                <a:solidFill>
                  <a:srgbClr val="FFC400"/>
                </a:solidFill>
              </a:rPr>
              <a:t>-</a:t>
            </a:r>
            <a:r>
              <a:rPr sz="3200" b="1" i="0" dirty="0">
                <a:solidFill>
                  <a:srgbClr val="FFC400"/>
                </a:solidFill>
              </a:rPr>
              <a:t> Burndown Chart</a:t>
            </a:r>
          </a:p>
        </p:txBody>
      </p:sp>
      <p:sp>
        <p:nvSpPr>
          <p:cNvPr id="4" name="Rectangle 3"/>
          <p:cNvSpPr/>
          <p:nvPr/>
        </p:nvSpPr>
        <p:spPr>
          <a:xfrm>
            <a:off x="612648" y="914400"/>
            <a:ext cx="10972800" cy="2540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38160" y="1051560"/>
            <a:ext cx="3749039" cy="4808220"/>
          </a:xfrm>
          <a:prstGeom prst="rect">
            <a:avLst/>
          </a:prstGeom>
          <a:solidFill>
            <a:srgbClr val="1E1E35"/>
          </a:solidFill>
          <a:ln w="19050">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321040" y="1234440"/>
            <a:ext cx="3383280" cy="3077766"/>
          </a:xfrm>
          <a:prstGeom prst="rect">
            <a:avLst/>
          </a:prstGeom>
          <a:noFill/>
        </p:spPr>
        <p:txBody>
          <a:bodyPr wrap="square">
            <a:spAutoFit/>
          </a:bodyPr>
          <a:lstStyle/>
          <a:p>
            <a:pPr algn="l"/>
            <a:r>
              <a:rPr sz="1400" b="1" dirty="0">
                <a:solidFill>
                  <a:srgbClr val="FFC400"/>
                </a:solidFill>
              </a:rPr>
              <a:t>Key Observations</a:t>
            </a:r>
          </a:p>
          <a:p>
            <a:pPr algn="l"/>
            <a:r>
              <a:rPr sz="1200" b="0" dirty="0">
                <a:solidFill>
                  <a:srgbClr val="4ADE80"/>
                </a:solidFill>
              </a:rPr>
              <a:t>Ahead of schedule from Day 1</a:t>
            </a:r>
          </a:p>
          <a:p>
            <a:r>
              <a:rPr lang="en-CA" sz="1100" b="0" dirty="0">
                <a:solidFill>
                  <a:srgbClr val="CCCCCC"/>
                </a:solidFill>
              </a:rPr>
              <a:t>Getting the most important things out of the way first to finalize the project, minor </a:t>
            </a:r>
            <a:r>
              <a:rPr lang="en-CA" sz="1100" dirty="0">
                <a:solidFill>
                  <a:srgbClr val="CCCCCC"/>
                </a:solidFill>
              </a:rPr>
              <a:t>UI polishes + global leaderboard </a:t>
            </a:r>
            <a:r>
              <a:rPr lang="en-CA" sz="1100" b="0" dirty="0">
                <a:solidFill>
                  <a:srgbClr val="CCCCCC"/>
                </a:solidFill>
              </a:rPr>
              <a:t>+ improvements to </a:t>
            </a:r>
            <a:r>
              <a:rPr lang="en-CA" sz="1100" dirty="0">
                <a:solidFill>
                  <a:srgbClr val="CCCCCC"/>
                </a:solidFill>
              </a:rPr>
              <a:t>existing features + full test suite </a:t>
            </a:r>
            <a:endParaRPr sz="1100" b="0" dirty="0">
              <a:solidFill>
                <a:srgbClr val="CCCCCC"/>
              </a:solidFill>
            </a:endParaRPr>
          </a:p>
          <a:p>
            <a:pPr algn="l"/>
            <a:endParaRPr sz="1100" b="0" dirty="0">
              <a:solidFill>
                <a:srgbClr val="CCCCCC"/>
              </a:solidFill>
            </a:endParaRPr>
          </a:p>
          <a:p>
            <a:pPr algn="l"/>
            <a:r>
              <a:rPr sz="1200" b="0" dirty="0">
                <a:solidFill>
                  <a:srgbClr val="F87171"/>
                </a:solidFill>
              </a:rPr>
              <a:t>Plateau on Days 6-7</a:t>
            </a:r>
          </a:p>
          <a:p>
            <a:pPr algn="l"/>
            <a:r>
              <a:rPr lang="en-CA" sz="1100" b="0" dirty="0">
                <a:solidFill>
                  <a:srgbClr val="CCCCCC"/>
                </a:solidFill>
              </a:rPr>
              <a:t>Progress died down a lot during this time</a:t>
            </a:r>
          </a:p>
          <a:p>
            <a:pPr algn="l"/>
            <a:endParaRPr sz="1100" b="0" dirty="0">
              <a:solidFill>
                <a:srgbClr val="CCCCCC"/>
              </a:solidFill>
            </a:endParaRPr>
          </a:p>
          <a:p>
            <a:pPr algn="l"/>
            <a:r>
              <a:rPr lang="en-CA" sz="1200" dirty="0">
                <a:solidFill>
                  <a:srgbClr val="4ADE80"/>
                </a:solidFill>
              </a:rPr>
              <a:t>The final </a:t>
            </a:r>
            <a:r>
              <a:rPr sz="1200" b="0" dirty="0">
                <a:solidFill>
                  <a:srgbClr val="4ADE80"/>
                </a:solidFill>
              </a:rPr>
              <a:t>push Days 8-13</a:t>
            </a:r>
          </a:p>
          <a:p>
            <a:pPr algn="l"/>
            <a:r>
              <a:rPr lang="en-CA" sz="1100" b="0" dirty="0">
                <a:solidFill>
                  <a:srgbClr val="CCCCCC"/>
                </a:solidFill>
              </a:rPr>
              <a:t>Updated test suites </a:t>
            </a:r>
            <a:r>
              <a:rPr sz="1100" b="0" dirty="0">
                <a:solidFill>
                  <a:srgbClr val="CCCCCC"/>
                </a:solidFill>
              </a:rPr>
              <a:t>+</a:t>
            </a:r>
            <a:r>
              <a:rPr lang="en-CA" sz="1100" b="0" dirty="0">
                <a:solidFill>
                  <a:srgbClr val="CCCCCC"/>
                </a:solidFill>
              </a:rPr>
              <a:t> coin clicker + final UI polishes +  QoL features + account deletion + document finalizations</a:t>
            </a:r>
          </a:p>
          <a:p>
            <a:pPr algn="l"/>
            <a:endParaRPr lang="en-CA" sz="1100" b="0" dirty="0">
              <a:solidFill>
                <a:srgbClr val="CCCCCC"/>
              </a:solidFill>
            </a:endParaRPr>
          </a:p>
          <a:p>
            <a:pPr algn="l"/>
            <a:r>
              <a:rPr sz="1200" b="0" dirty="0">
                <a:solidFill>
                  <a:srgbClr val="FFC400"/>
                </a:solidFill>
              </a:rPr>
              <a:t>0.0 remaining on Apr 6 </a:t>
            </a:r>
            <a:r>
              <a:rPr lang="en-CA" sz="1200" b="0" dirty="0">
                <a:solidFill>
                  <a:srgbClr val="FFC400"/>
                </a:solidFill>
              </a:rPr>
              <a:t>-</a:t>
            </a:r>
            <a:r>
              <a:rPr sz="1200" b="0" dirty="0">
                <a:solidFill>
                  <a:srgbClr val="FFC400"/>
                </a:solidFill>
              </a:rPr>
              <a:t> done!</a:t>
            </a:r>
          </a:p>
          <a:p>
            <a:pPr algn="l"/>
            <a:r>
              <a:rPr sz="1100" b="0" dirty="0">
                <a:solidFill>
                  <a:srgbClr val="CCCCCC"/>
                </a:solidFill>
              </a:rPr>
              <a:t>All planned work completed</a:t>
            </a:r>
          </a:p>
        </p:txBody>
      </p:sp>
      <p:sp>
        <p:nvSpPr>
          <p:cNvPr id="8" name="Rectangle 7"/>
          <p:cNvSpPr/>
          <p:nvPr/>
        </p:nvSpPr>
        <p:spPr>
          <a:xfrm>
            <a:off x="8275320" y="4544568"/>
            <a:ext cx="3429000" cy="1143000"/>
          </a:xfrm>
          <a:prstGeom prst="rect">
            <a:avLst/>
          </a:prstGeom>
          <a:solidFill>
            <a:srgbClr val="12121E"/>
          </a:solidFill>
          <a:ln w="12700">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80" y="4617720"/>
            <a:ext cx="3200400" cy="1005840"/>
          </a:xfrm>
          <a:prstGeom prst="rect">
            <a:avLst/>
          </a:prstGeom>
          <a:noFill/>
        </p:spPr>
        <p:txBody>
          <a:bodyPr wrap="square">
            <a:spAutoFit/>
          </a:bodyPr>
          <a:lstStyle/>
          <a:p>
            <a:pPr algn="l"/>
            <a:r>
              <a:rPr sz="1300" b="1" dirty="0">
                <a:solidFill>
                  <a:srgbClr val="FFC400"/>
                </a:solidFill>
              </a:rPr>
              <a:t>Final Velocity</a:t>
            </a:r>
          </a:p>
          <a:p>
            <a:pPr algn="l"/>
            <a:r>
              <a:rPr sz="1200" b="0" dirty="0">
                <a:solidFill>
                  <a:srgbClr val="FFFFFF"/>
                </a:solidFill>
              </a:rPr>
              <a:t>25 dev-days completed  (89% of capacity)</a:t>
            </a:r>
          </a:p>
          <a:p>
            <a:pPr algn="l"/>
            <a:r>
              <a:rPr sz="1100" b="0" dirty="0">
                <a:solidFill>
                  <a:srgbClr val="CCCCCC"/>
                </a:solidFill>
              </a:rPr>
              <a:t>Iter 1: 26  |  Iter 2: 28  |  Iter 3: 25</a:t>
            </a:r>
          </a:p>
        </p:txBody>
      </p:sp>
      <p:pic>
        <p:nvPicPr>
          <p:cNvPr id="11" name="Picture 10">
            <a:extLst>
              <a:ext uri="{FF2B5EF4-FFF2-40B4-BE49-F238E27FC236}">
                <a16:creationId xmlns:a16="http://schemas.microsoft.com/office/drawing/2014/main" id="{17B0BB2B-EA99-F1FF-5251-0248C090DBCD}"/>
              </a:ext>
            </a:extLst>
          </p:cNvPr>
          <p:cNvPicPr>
            <a:picLocks noChangeAspect="1"/>
          </p:cNvPicPr>
          <p:nvPr/>
        </p:nvPicPr>
        <p:blipFill>
          <a:blip r:embed="rId2"/>
          <a:stretch>
            <a:fillRect/>
          </a:stretch>
        </p:blipFill>
        <p:spPr>
          <a:xfrm>
            <a:off x="453971" y="1214537"/>
            <a:ext cx="7592749" cy="3796375"/>
          </a:xfrm>
          <a:prstGeom prst="rect">
            <a:avLst/>
          </a:prstGeom>
        </p:spPr>
      </p:pic>
      <p:pic>
        <p:nvPicPr>
          <p:cNvPr id="12" name="Picture 11">
            <a:extLst>
              <a:ext uri="{FF2B5EF4-FFF2-40B4-BE49-F238E27FC236}">
                <a16:creationId xmlns:a16="http://schemas.microsoft.com/office/drawing/2014/main" id="{B2D1588D-D00F-CDCF-1D47-CFFF2DAF667E}"/>
              </a:ext>
            </a:extLst>
          </p:cNvPr>
          <p:cNvPicPr>
            <a:picLocks noChangeAspect="1"/>
          </p:cNvPicPr>
          <p:nvPr/>
        </p:nvPicPr>
        <p:blipFill>
          <a:blip r:embed="rId3"/>
          <a:stretch>
            <a:fillRect/>
          </a:stretch>
        </p:blipFill>
        <p:spPr>
          <a:xfrm>
            <a:off x="502921" y="5410982"/>
            <a:ext cx="1348740" cy="13487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2121E"/>
        </a:solidFill>
        <a:effectLst/>
      </p:bgPr>
    </p:bg>
    <p:spTree>
      <p:nvGrpSpPr>
        <p:cNvPr id="1" name="">
          <a:extLst>
            <a:ext uri="{FF2B5EF4-FFF2-40B4-BE49-F238E27FC236}">
              <a16:creationId xmlns:a16="http://schemas.microsoft.com/office/drawing/2014/main" id="{237DDCA5-7C44-65DE-281A-E390D2C66BD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CB2D666-DBDC-9220-B64E-33FEC6555FA6}"/>
              </a:ext>
            </a:extLst>
          </p:cNvPr>
          <p:cNvSpPr/>
          <p:nvPr/>
        </p:nvSpPr>
        <p:spPr>
          <a:xfrm>
            <a:off x="0" y="0"/>
            <a:ext cx="320040" cy="685800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DD900532-58C7-AC1B-C446-45771E73E446}"/>
              </a:ext>
            </a:extLst>
          </p:cNvPr>
          <p:cNvSpPr txBox="1"/>
          <p:nvPr/>
        </p:nvSpPr>
        <p:spPr>
          <a:xfrm>
            <a:off x="548640" y="228600"/>
            <a:ext cx="9144000" cy="594360"/>
          </a:xfrm>
          <a:prstGeom prst="rect">
            <a:avLst/>
          </a:prstGeom>
          <a:noFill/>
        </p:spPr>
        <p:txBody>
          <a:bodyPr wrap="square">
            <a:spAutoFit/>
          </a:bodyPr>
          <a:lstStyle/>
          <a:p>
            <a:pPr algn="l"/>
            <a:r>
              <a:rPr lang="en-CA" sz="3200" b="1" dirty="0" err="1">
                <a:solidFill>
                  <a:srgbClr val="FFC400"/>
                </a:solidFill>
              </a:rPr>
              <a:t>PiNNTORP</a:t>
            </a:r>
            <a:r>
              <a:rPr lang="en-CA" sz="3200" b="1" dirty="0">
                <a:solidFill>
                  <a:srgbClr val="FFC400"/>
                </a:solidFill>
              </a:rPr>
              <a:t> - Across iterations</a:t>
            </a:r>
            <a:endParaRPr sz="3200" b="1" i="0" dirty="0">
              <a:solidFill>
                <a:srgbClr val="FFC400"/>
              </a:solidFill>
            </a:endParaRPr>
          </a:p>
        </p:txBody>
      </p:sp>
      <p:sp>
        <p:nvSpPr>
          <p:cNvPr id="4" name="Rectangle 3">
            <a:extLst>
              <a:ext uri="{FF2B5EF4-FFF2-40B4-BE49-F238E27FC236}">
                <a16:creationId xmlns:a16="http://schemas.microsoft.com/office/drawing/2014/main" id="{63C2B491-AA0E-F292-0005-632D25AA028A}"/>
              </a:ext>
            </a:extLst>
          </p:cNvPr>
          <p:cNvSpPr/>
          <p:nvPr/>
        </p:nvSpPr>
        <p:spPr>
          <a:xfrm>
            <a:off x="612648" y="914400"/>
            <a:ext cx="10972800" cy="2540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DC23E77C-E74C-0411-4202-1471FF656CB1}"/>
              </a:ext>
            </a:extLst>
          </p:cNvPr>
          <p:cNvSpPr/>
          <p:nvPr/>
        </p:nvSpPr>
        <p:spPr>
          <a:xfrm>
            <a:off x="548640" y="1097280"/>
            <a:ext cx="5394960" cy="3436332"/>
          </a:xfrm>
          <a:prstGeom prst="rect">
            <a:avLst/>
          </a:prstGeom>
          <a:solidFill>
            <a:srgbClr val="1E1E35"/>
          </a:solidFill>
          <a:ln w="2540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23AAE562-7CE3-4DA0-6B92-147D0C28E576}"/>
              </a:ext>
            </a:extLst>
          </p:cNvPr>
          <p:cNvSpPr/>
          <p:nvPr/>
        </p:nvSpPr>
        <p:spPr>
          <a:xfrm>
            <a:off x="548640" y="1097279"/>
            <a:ext cx="192024" cy="3436332"/>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AE5BE3EA-AB92-DF84-9C6D-6C2C32A2AA88}"/>
              </a:ext>
            </a:extLst>
          </p:cNvPr>
          <p:cNvSpPr txBox="1"/>
          <p:nvPr/>
        </p:nvSpPr>
        <p:spPr>
          <a:xfrm>
            <a:off x="804672" y="1188720"/>
            <a:ext cx="5074920" cy="292388"/>
          </a:xfrm>
          <a:prstGeom prst="rect">
            <a:avLst/>
          </a:prstGeom>
          <a:noFill/>
        </p:spPr>
        <p:txBody>
          <a:bodyPr wrap="square">
            <a:spAutoFit/>
          </a:bodyPr>
          <a:lstStyle/>
          <a:p>
            <a:pPr algn="l"/>
            <a:r>
              <a:rPr lang="en-CA" sz="1300" b="1" i="0" dirty="0">
                <a:solidFill>
                  <a:srgbClr val="4ADE80"/>
                </a:solidFill>
              </a:rPr>
              <a:t>Iteration 1</a:t>
            </a:r>
            <a:endParaRPr sz="1300" b="1" i="0" dirty="0">
              <a:solidFill>
                <a:srgbClr val="4ADE80"/>
              </a:solidFill>
            </a:endParaRPr>
          </a:p>
        </p:txBody>
      </p:sp>
      <p:sp>
        <p:nvSpPr>
          <p:cNvPr id="13" name="Rectangle 12">
            <a:extLst>
              <a:ext uri="{FF2B5EF4-FFF2-40B4-BE49-F238E27FC236}">
                <a16:creationId xmlns:a16="http://schemas.microsoft.com/office/drawing/2014/main" id="{DDF0CBA7-D254-8CBC-DD6F-BE8CEED1F2E4}"/>
              </a:ext>
            </a:extLst>
          </p:cNvPr>
          <p:cNvSpPr/>
          <p:nvPr/>
        </p:nvSpPr>
        <p:spPr>
          <a:xfrm>
            <a:off x="6338485" y="1097280"/>
            <a:ext cx="5394960" cy="3502728"/>
          </a:xfrm>
          <a:prstGeom prst="rect">
            <a:avLst/>
          </a:prstGeom>
          <a:solidFill>
            <a:srgbClr val="1E1E35"/>
          </a:solidFill>
          <a:ln w="25400">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a:extLst>
              <a:ext uri="{FF2B5EF4-FFF2-40B4-BE49-F238E27FC236}">
                <a16:creationId xmlns:a16="http://schemas.microsoft.com/office/drawing/2014/main" id="{80ED7B09-7D64-DEC8-FA5D-93BB97085E9C}"/>
              </a:ext>
            </a:extLst>
          </p:cNvPr>
          <p:cNvSpPr/>
          <p:nvPr/>
        </p:nvSpPr>
        <p:spPr>
          <a:xfrm>
            <a:off x="6338485" y="1097280"/>
            <a:ext cx="164592" cy="3502728"/>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C677ED20-0926-96FA-CDD9-36AEC6177075}"/>
              </a:ext>
            </a:extLst>
          </p:cNvPr>
          <p:cNvSpPr txBox="1"/>
          <p:nvPr/>
        </p:nvSpPr>
        <p:spPr>
          <a:xfrm>
            <a:off x="6594517" y="1188720"/>
            <a:ext cx="5074920" cy="292388"/>
          </a:xfrm>
          <a:prstGeom prst="rect">
            <a:avLst/>
          </a:prstGeom>
          <a:noFill/>
        </p:spPr>
        <p:txBody>
          <a:bodyPr wrap="square">
            <a:spAutoFit/>
          </a:bodyPr>
          <a:lstStyle/>
          <a:p>
            <a:pPr algn="l"/>
            <a:r>
              <a:rPr lang="en-CA" sz="1300" b="1" i="0" dirty="0">
                <a:solidFill>
                  <a:srgbClr val="FFC400"/>
                </a:solidFill>
              </a:rPr>
              <a:t>Iteration 2</a:t>
            </a:r>
            <a:endParaRPr sz="1300" b="1" i="0" dirty="0">
              <a:solidFill>
                <a:srgbClr val="FFC400"/>
              </a:solidFill>
            </a:endParaRPr>
          </a:p>
        </p:txBody>
      </p:sp>
      <p:sp>
        <p:nvSpPr>
          <p:cNvPr id="17" name="Rectangle 16">
            <a:extLst>
              <a:ext uri="{FF2B5EF4-FFF2-40B4-BE49-F238E27FC236}">
                <a16:creationId xmlns:a16="http://schemas.microsoft.com/office/drawing/2014/main" id="{99352E52-1CA3-155A-C8AB-434EC8733F4B}"/>
              </a:ext>
            </a:extLst>
          </p:cNvPr>
          <p:cNvSpPr/>
          <p:nvPr/>
        </p:nvSpPr>
        <p:spPr>
          <a:xfrm>
            <a:off x="3641005" y="5074920"/>
            <a:ext cx="5394960" cy="1188720"/>
          </a:xfrm>
          <a:prstGeom prst="rect">
            <a:avLst/>
          </a:prstGeom>
          <a:solidFill>
            <a:srgbClr val="1E1E35"/>
          </a:solidFill>
          <a:ln w="254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CA" dirty="0"/>
              <a:t>See the next slide</a:t>
            </a:r>
            <a:endParaRPr dirty="0"/>
          </a:p>
        </p:txBody>
      </p:sp>
      <p:sp>
        <p:nvSpPr>
          <p:cNvPr id="18" name="Rectangle 17">
            <a:extLst>
              <a:ext uri="{FF2B5EF4-FFF2-40B4-BE49-F238E27FC236}">
                <a16:creationId xmlns:a16="http://schemas.microsoft.com/office/drawing/2014/main" id="{DC63F136-7B33-154E-EC3B-52FDDDAC744A}"/>
              </a:ext>
            </a:extLst>
          </p:cNvPr>
          <p:cNvSpPr/>
          <p:nvPr/>
        </p:nvSpPr>
        <p:spPr>
          <a:xfrm>
            <a:off x="3641005" y="5074920"/>
            <a:ext cx="164592" cy="118872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6CB42FDC-269F-1B2C-94BC-055900B02B44}"/>
              </a:ext>
            </a:extLst>
          </p:cNvPr>
          <p:cNvSpPr txBox="1"/>
          <p:nvPr/>
        </p:nvSpPr>
        <p:spPr>
          <a:xfrm>
            <a:off x="3897037" y="5166360"/>
            <a:ext cx="5074920" cy="292388"/>
          </a:xfrm>
          <a:prstGeom prst="rect">
            <a:avLst/>
          </a:prstGeom>
          <a:noFill/>
        </p:spPr>
        <p:txBody>
          <a:bodyPr wrap="square">
            <a:spAutoFit/>
          </a:bodyPr>
          <a:lstStyle/>
          <a:p>
            <a:pPr algn="l"/>
            <a:r>
              <a:rPr lang="en-CA" sz="1300" b="1" i="0" dirty="0">
                <a:solidFill>
                  <a:srgbClr val="F87171"/>
                </a:solidFill>
              </a:rPr>
              <a:t>Iteration 3</a:t>
            </a:r>
            <a:endParaRPr sz="1300" b="1" i="0" dirty="0">
              <a:solidFill>
                <a:srgbClr val="F87171"/>
              </a:solidFill>
            </a:endParaRPr>
          </a:p>
        </p:txBody>
      </p:sp>
      <p:pic>
        <p:nvPicPr>
          <p:cNvPr id="30" name="Picture 29">
            <a:extLst>
              <a:ext uri="{FF2B5EF4-FFF2-40B4-BE49-F238E27FC236}">
                <a16:creationId xmlns:a16="http://schemas.microsoft.com/office/drawing/2014/main" id="{696325D9-6F56-FA39-9239-022E3D05FDF8}"/>
              </a:ext>
            </a:extLst>
          </p:cNvPr>
          <p:cNvPicPr>
            <a:picLocks noChangeAspect="1"/>
          </p:cNvPicPr>
          <p:nvPr/>
        </p:nvPicPr>
        <p:blipFill>
          <a:blip r:embed="rId2"/>
          <a:stretch>
            <a:fillRect/>
          </a:stretch>
        </p:blipFill>
        <p:spPr>
          <a:xfrm>
            <a:off x="839330" y="1679139"/>
            <a:ext cx="4813580" cy="2422762"/>
          </a:xfrm>
          <a:prstGeom prst="rect">
            <a:avLst/>
          </a:prstGeom>
        </p:spPr>
      </p:pic>
      <p:pic>
        <p:nvPicPr>
          <p:cNvPr id="40" name="Picture 39">
            <a:extLst>
              <a:ext uri="{FF2B5EF4-FFF2-40B4-BE49-F238E27FC236}">
                <a16:creationId xmlns:a16="http://schemas.microsoft.com/office/drawing/2014/main" id="{8A8E817F-2093-9731-8798-CB915F3976B8}"/>
              </a:ext>
            </a:extLst>
          </p:cNvPr>
          <p:cNvPicPr>
            <a:picLocks noChangeAspect="1"/>
          </p:cNvPicPr>
          <p:nvPr/>
        </p:nvPicPr>
        <p:blipFill>
          <a:blip r:embed="rId3"/>
          <a:stretch>
            <a:fillRect/>
          </a:stretch>
        </p:blipFill>
        <p:spPr>
          <a:xfrm>
            <a:off x="6947957" y="1590677"/>
            <a:ext cx="4295776" cy="2899762"/>
          </a:xfrm>
          <a:prstGeom prst="rect">
            <a:avLst/>
          </a:prstGeom>
        </p:spPr>
      </p:pic>
      <p:pic>
        <p:nvPicPr>
          <p:cNvPr id="41" name="Picture 40">
            <a:extLst>
              <a:ext uri="{FF2B5EF4-FFF2-40B4-BE49-F238E27FC236}">
                <a16:creationId xmlns:a16="http://schemas.microsoft.com/office/drawing/2014/main" id="{87FD113B-E36C-5CF7-68CD-A3DBE38E2B33}"/>
              </a:ext>
            </a:extLst>
          </p:cNvPr>
          <p:cNvPicPr>
            <a:picLocks noChangeAspect="1"/>
          </p:cNvPicPr>
          <p:nvPr/>
        </p:nvPicPr>
        <p:blipFill>
          <a:blip r:embed="rId4"/>
          <a:stretch>
            <a:fillRect/>
          </a:stretch>
        </p:blipFill>
        <p:spPr>
          <a:xfrm>
            <a:off x="502921" y="5410982"/>
            <a:ext cx="1348740" cy="1348740"/>
          </a:xfrm>
          <a:prstGeom prst="rect">
            <a:avLst/>
          </a:prstGeom>
        </p:spPr>
      </p:pic>
    </p:spTree>
    <p:extLst>
      <p:ext uri="{BB962C8B-B14F-4D97-AF65-F5344CB8AC3E}">
        <p14:creationId xmlns:p14="http://schemas.microsoft.com/office/powerpoint/2010/main" val="1741319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2121E"/>
        </a:solidFill>
        <a:effectLst/>
      </p:bgPr>
    </p:bg>
    <p:spTree>
      <p:nvGrpSpPr>
        <p:cNvPr id="1" name=""/>
        <p:cNvGrpSpPr/>
        <p:nvPr/>
      </p:nvGrpSpPr>
      <p:grpSpPr>
        <a:xfrm>
          <a:off x="0" y="0"/>
          <a:ext cx="0" cy="0"/>
          <a:chOff x="0" y="0"/>
          <a:chExt cx="0" cy="0"/>
        </a:xfrm>
      </p:grpSpPr>
      <p:sp>
        <p:nvSpPr>
          <p:cNvPr id="2" name="Rectangle 1"/>
          <p:cNvSpPr/>
          <p:nvPr/>
        </p:nvSpPr>
        <p:spPr>
          <a:xfrm>
            <a:off x="0" y="0"/>
            <a:ext cx="320040" cy="685800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28600"/>
            <a:ext cx="9144000" cy="594360"/>
          </a:xfrm>
          <a:prstGeom prst="rect">
            <a:avLst/>
          </a:prstGeom>
          <a:noFill/>
        </p:spPr>
        <p:txBody>
          <a:bodyPr wrap="square">
            <a:spAutoFit/>
          </a:bodyPr>
          <a:lstStyle/>
          <a:p>
            <a:pPr algn="l"/>
            <a:r>
              <a:rPr sz="3200" b="1" i="0">
                <a:solidFill>
                  <a:srgbClr val="FFC400"/>
                </a:solidFill>
              </a:rPr>
              <a:t>Live Demo</a:t>
            </a:r>
          </a:p>
        </p:txBody>
      </p:sp>
      <p:sp>
        <p:nvSpPr>
          <p:cNvPr id="4" name="Rectangle 3"/>
          <p:cNvSpPr/>
          <p:nvPr/>
        </p:nvSpPr>
        <p:spPr>
          <a:xfrm>
            <a:off x="612648" y="914400"/>
            <a:ext cx="10972800" cy="2540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005840"/>
            <a:ext cx="10972800" cy="411480"/>
          </a:xfrm>
          <a:prstGeom prst="rect">
            <a:avLst/>
          </a:prstGeom>
          <a:noFill/>
        </p:spPr>
        <p:txBody>
          <a:bodyPr wrap="square">
            <a:spAutoFit/>
          </a:bodyPr>
          <a:lstStyle/>
          <a:p>
            <a:pPr algn="l"/>
            <a:r>
              <a:rPr sz="1500" b="0" i="0" dirty="0">
                <a:solidFill>
                  <a:srgbClr val="CCCCCC"/>
                </a:solidFill>
              </a:rPr>
              <a:t>Demonstrating our best features:</a:t>
            </a:r>
          </a:p>
        </p:txBody>
      </p:sp>
      <p:sp>
        <p:nvSpPr>
          <p:cNvPr id="6" name="Rectangle 5"/>
          <p:cNvSpPr/>
          <p:nvPr/>
        </p:nvSpPr>
        <p:spPr>
          <a:xfrm>
            <a:off x="548640" y="1554480"/>
            <a:ext cx="5394960" cy="658368"/>
          </a:xfrm>
          <a:prstGeom prst="rect">
            <a:avLst/>
          </a:prstGeom>
          <a:solidFill>
            <a:srgbClr val="1E1E35"/>
          </a:solidFill>
          <a:ln w="1905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1554480"/>
            <a:ext cx="384048" cy="658368"/>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554480"/>
            <a:ext cx="384048" cy="658368"/>
          </a:xfrm>
          <a:prstGeom prst="rect">
            <a:avLst/>
          </a:prstGeom>
          <a:noFill/>
        </p:spPr>
        <p:txBody>
          <a:bodyPr wrap="square">
            <a:spAutoFit/>
          </a:bodyPr>
          <a:lstStyle/>
          <a:p>
            <a:pPr algn="ctr"/>
            <a:r>
              <a:rPr sz="1600" b="1" i="0">
                <a:solidFill>
                  <a:srgbClr val="12121E"/>
                </a:solidFill>
              </a:rPr>
              <a:t>1</a:t>
            </a:r>
          </a:p>
        </p:txBody>
      </p:sp>
      <p:sp>
        <p:nvSpPr>
          <p:cNvPr id="9" name="TextBox 8"/>
          <p:cNvSpPr txBox="1"/>
          <p:nvPr/>
        </p:nvSpPr>
        <p:spPr>
          <a:xfrm>
            <a:off x="1024128" y="1600200"/>
            <a:ext cx="4846320" cy="274320"/>
          </a:xfrm>
          <a:prstGeom prst="rect">
            <a:avLst/>
          </a:prstGeom>
          <a:noFill/>
        </p:spPr>
        <p:txBody>
          <a:bodyPr wrap="square">
            <a:spAutoFit/>
          </a:bodyPr>
          <a:lstStyle/>
          <a:p>
            <a:pPr algn="l"/>
            <a:r>
              <a:rPr sz="1200" b="1" i="0">
                <a:solidFill>
                  <a:srgbClr val="FFFFFF"/>
                </a:solidFill>
              </a:rPr>
              <a:t>User Registration &amp; Login</a:t>
            </a:r>
          </a:p>
        </p:txBody>
      </p:sp>
      <p:sp>
        <p:nvSpPr>
          <p:cNvPr id="10" name="TextBox 9"/>
          <p:cNvSpPr txBox="1"/>
          <p:nvPr/>
        </p:nvSpPr>
        <p:spPr>
          <a:xfrm>
            <a:off x="1024128" y="1883664"/>
            <a:ext cx="4846320" cy="253916"/>
          </a:xfrm>
          <a:prstGeom prst="rect">
            <a:avLst/>
          </a:prstGeom>
          <a:noFill/>
        </p:spPr>
        <p:txBody>
          <a:bodyPr wrap="square">
            <a:spAutoFit/>
          </a:bodyPr>
          <a:lstStyle/>
          <a:p>
            <a:pPr algn="l"/>
            <a:r>
              <a:rPr sz="1050" b="0" i="0" dirty="0">
                <a:solidFill>
                  <a:srgbClr val="888899"/>
                </a:solidFill>
              </a:rPr>
              <a:t>New account creation</a:t>
            </a:r>
            <a:r>
              <a:rPr lang="en-CA" sz="1050" dirty="0">
                <a:solidFill>
                  <a:srgbClr val="888899"/>
                </a:solidFill>
              </a:rPr>
              <a:t> with</a:t>
            </a:r>
            <a:r>
              <a:rPr sz="1050" b="0" i="0" dirty="0">
                <a:solidFill>
                  <a:srgbClr val="888899"/>
                </a:solidFill>
              </a:rPr>
              <a:t> form </a:t>
            </a:r>
            <a:r>
              <a:rPr sz="1050" b="0" i="0" dirty="0" err="1">
                <a:solidFill>
                  <a:srgbClr val="888899"/>
                </a:solidFill>
              </a:rPr>
              <a:t>validatio</a:t>
            </a:r>
            <a:r>
              <a:rPr lang="en-CA" sz="1050" b="0" i="0" dirty="0">
                <a:solidFill>
                  <a:srgbClr val="888899"/>
                </a:solidFill>
              </a:rPr>
              <a:t>n</a:t>
            </a:r>
            <a:endParaRPr sz="1050" b="0" i="0" dirty="0">
              <a:solidFill>
                <a:srgbClr val="888899"/>
              </a:solidFill>
            </a:endParaRPr>
          </a:p>
        </p:txBody>
      </p:sp>
      <p:sp>
        <p:nvSpPr>
          <p:cNvPr id="11" name="Rectangle 10"/>
          <p:cNvSpPr/>
          <p:nvPr/>
        </p:nvSpPr>
        <p:spPr>
          <a:xfrm>
            <a:off x="6446520" y="1554480"/>
            <a:ext cx="5394960" cy="658368"/>
          </a:xfrm>
          <a:prstGeom prst="rect">
            <a:avLst/>
          </a:prstGeom>
          <a:solidFill>
            <a:srgbClr val="1E1E35"/>
          </a:solidFill>
          <a:ln w="1905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446520" y="1554480"/>
            <a:ext cx="384048" cy="658368"/>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46520" y="1554480"/>
            <a:ext cx="384048" cy="658368"/>
          </a:xfrm>
          <a:prstGeom prst="rect">
            <a:avLst/>
          </a:prstGeom>
          <a:noFill/>
        </p:spPr>
        <p:txBody>
          <a:bodyPr wrap="square">
            <a:spAutoFit/>
          </a:bodyPr>
          <a:lstStyle/>
          <a:p>
            <a:pPr algn="ctr"/>
            <a:r>
              <a:rPr sz="1600" b="1" i="0">
                <a:solidFill>
                  <a:srgbClr val="12121E"/>
                </a:solidFill>
              </a:rPr>
              <a:t>2</a:t>
            </a:r>
          </a:p>
        </p:txBody>
      </p:sp>
      <p:sp>
        <p:nvSpPr>
          <p:cNvPr id="14" name="TextBox 13"/>
          <p:cNvSpPr txBox="1"/>
          <p:nvPr/>
        </p:nvSpPr>
        <p:spPr>
          <a:xfrm>
            <a:off x="6922008" y="1600200"/>
            <a:ext cx="4846320" cy="274320"/>
          </a:xfrm>
          <a:prstGeom prst="rect">
            <a:avLst/>
          </a:prstGeom>
          <a:noFill/>
        </p:spPr>
        <p:txBody>
          <a:bodyPr wrap="square">
            <a:spAutoFit/>
          </a:bodyPr>
          <a:lstStyle/>
          <a:p>
            <a:pPr algn="l"/>
            <a:r>
              <a:rPr sz="1200" b="1" i="0" dirty="0">
                <a:solidFill>
                  <a:srgbClr val="FFFFFF"/>
                </a:solidFill>
              </a:rPr>
              <a:t>Playing the Games</a:t>
            </a:r>
          </a:p>
        </p:txBody>
      </p:sp>
      <p:sp>
        <p:nvSpPr>
          <p:cNvPr id="15" name="TextBox 14"/>
          <p:cNvSpPr txBox="1"/>
          <p:nvPr/>
        </p:nvSpPr>
        <p:spPr>
          <a:xfrm>
            <a:off x="6922008" y="1883664"/>
            <a:ext cx="4846320" cy="253916"/>
          </a:xfrm>
          <a:prstGeom prst="rect">
            <a:avLst/>
          </a:prstGeom>
          <a:noFill/>
        </p:spPr>
        <p:txBody>
          <a:bodyPr wrap="square">
            <a:spAutoFit/>
          </a:bodyPr>
          <a:lstStyle/>
          <a:p>
            <a:pPr algn="l"/>
            <a:r>
              <a:rPr sz="1050" b="0" i="0" dirty="0">
                <a:solidFill>
                  <a:srgbClr val="888899"/>
                </a:solidFill>
              </a:rPr>
              <a:t>Slot Machine</a:t>
            </a:r>
            <a:r>
              <a:rPr lang="en-CA" sz="1050" b="0" i="0" dirty="0">
                <a:solidFill>
                  <a:srgbClr val="888899"/>
                </a:solidFill>
              </a:rPr>
              <a:t>, </a:t>
            </a:r>
            <a:r>
              <a:rPr sz="1050" b="0" i="0" dirty="0">
                <a:solidFill>
                  <a:srgbClr val="888899"/>
                </a:solidFill>
              </a:rPr>
              <a:t>Blackjack</a:t>
            </a:r>
            <a:r>
              <a:rPr lang="en-CA" sz="1050" b="0" i="0" dirty="0">
                <a:solidFill>
                  <a:srgbClr val="888899"/>
                </a:solidFill>
              </a:rPr>
              <a:t>,</a:t>
            </a:r>
            <a:r>
              <a:rPr sz="1050" b="0" i="0" dirty="0">
                <a:solidFill>
                  <a:srgbClr val="888899"/>
                </a:solidFill>
              </a:rPr>
              <a:t> Dice Roll</a:t>
            </a:r>
            <a:r>
              <a:rPr lang="en-CA" sz="1050" b="0" i="0" dirty="0">
                <a:solidFill>
                  <a:srgbClr val="888899"/>
                </a:solidFill>
              </a:rPr>
              <a:t>,</a:t>
            </a:r>
            <a:r>
              <a:rPr sz="1050" b="0" i="0" dirty="0">
                <a:solidFill>
                  <a:srgbClr val="888899"/>
                </a:solidFill>
              </a:rPr>
              <a:t> Coin Flip</a:t>
            </a:r>
            <a:r>
              <a:rPr lang="en-CA" sz="1050" b="0" i="0" dirty="0">
                <a:solidFill>
                  <a:srgbClr val="888899"/>
                </a:solidFill>
              </a:rPr>
              <a:t> + Money earning system</a:t>
            </a:r>
            <a:endParaRPr sz="1050" b="0" i="0" dirty="0">
              <a:solidFill>
                <a:srgbClr val="888899"/>
              </a:solidFill>
            </a:endParaRPr>
          </a:p>
        </p:txBody>
      </p:sp>
      <p:sp>
        <p:nvSpPr>
          <p:cNvPr id="16" name="Rectangle 15"/>
          <p:cNvSpPr/>
          <p:nvPr/>
        </p:nvSpPr>
        <p:spPr>
          <a:xfrm>
            <a:off x="548640" y="2359152"/>
            <a:ext cx="5394960" cy="658368"/>
          </a:xfrm>
          <a:prstGeom prst="rect">
            <a:avLst/>
          </a:prstGeom>
          <a:solidFill>
            <a:srgbClr val="1E1E35"/>
          </a:solidFill>
          <a:ln w="19050">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48640" y="2359152"/>
            <a:ext cx="384048" cy="658368"/>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48640" y="2359152"/>
            <a:ext cx="384048" cy="658368"/>
          </a:xfrm>
          <a:prstGeom prst="rect">
            <a:avLst/>
          </a:prstGeom>
          <a:noFill/>
        </p:spPr>
        <p:txBody>
          <a:bodyPr wrap="square">
            <a:spAutoFit/>
          </a:bodyPr>
          <a:lstStyle/>
          <a:p>
            <a:pPr algn="ctr"/>
            <a:r>
              <a:rPr sz="1600" b="1" i="0">
                <a:solidFill>
                  <a:srgbClr val="12121E"/>
                </a:solidFill>
              </a:rPr>
              <a:t>3</a:t>
            </a:r>
          </a:p>
        </p:txBody>
      </p:sp>
      <p:sp>
        <p:nvSpPr>
          <p:cNvPr id="19" name="TextBox 18"/>
          <p:cNvSpPr txBox="1"/>
          <p:nvPr/>
        </p:nvSpPr>
        <p:spPr>
          <a:xfrm>
            <a:off x="1024128" y="2404872"/>
            <a:ext cx="4846320" cy="274320"/>
          </a:xfrm>
          <a:prstGeom prst="rect">
            <a:avLst/>
          </a:prstGeom>
          <a:noFill/>
        </p:spPr>
        <p:txBody>
          <a:bodyPr wrap="square">
            <a:spAutoFit/>
          </a:bodyPr>
          <a:lstStyle/>
          <a:p>
            <a:pPr algn="l"/>
            <a:r>
              <a:rPr sz="1200" b="1" i="0">
                <a:solidFill>
                  <a:srgbClr val="FFFFFF"/>
                </a:solidFill>
              </a:rPr>
              <a:t>Game History &amp; Stats</a:t>
            </a:r>
          </a:p>
        </p:txBody>
      </p:sp>
      <p:sp>
        <p:nvSpPr>
          <p:cNvPr id="20" name="TextBox 19"/>
          <p:cNvSpPr txBox="1"/>
          <p:nvPr/>
        </p:nvSpPr>
        <p:spPr>
          <a:xfrm>
            <a:off x="1024128" y="2688336"/>
            <a:ext cx="4846320" cy="253916"/>
          </a:xfrm>
          <a:prstGeom prst="rect">
            <a:avLst/>
          </a:prstGeom>
          <a:noFill/>
        </p:spPr>
        <p:txBody>
          <a:bodyPr wrap="square">
            <a:spAutoFit/>
          </a:bodyPr>
          <a:lstStyle/>
          <a:p>
            <a:pPr algn="l"/>
            <a:r>
              <a:rPr sz="1050" b="0" i="0" dirty="0">
                <a:solidFill>
                  <a:srgbClr val="888899"/>
                </a:solidFill>
              </a:rPr>
              <a:t>Profile page </a:t>
            </a:r>
            <a:r>
              <a:rPr lang="en-CA" sz="1050" b="0" i="0" dirty="0">
                <a:solidFill>
                  <a:srgbClr val="888899"/>
                </a:solidFill>
              </a:rPr>
              <a:t>-</a:t>
            </a:r>
            <a:r>
              <a:rPr sz="1050" b="0" i="0" dirty="0">
                <a:solidFill>
                  <a:srgbClr val="888899"/>
                </a:solidFill>
              </a:rPr>
              <a:t> win/loss ratio, total profit</a:t>
            </a:r>
            <a:r>
              <a:rPr lang="en-CA" sz="1050" b="0" i="0" dirty="0">
                <a:solidFill>
                  <a:srgbClr val="888899"/>
                </a:solidFill>
              </a:rPr>
              <a:t>, game history</a:t>
            </a:r>
            <a:endParaRPr sz="1050" b="0" i="0" dirty="0">
              <a:solidFill>
                <a:srgbClr val="888899"/>
              </a:solidFill>
            </a:endParaRPr>
          </a:p>
        </p:txBody>
      </p:sp>
      <p:sp>
        <p:nvSpPr>
          <p:cNvPr id="21" name="Rectangle 20"/>
          <p:cNvSpPr/>
          <p:nvPr/>
        </p:nvSpPr>
        <p:spPr>
          <a:xfrm>
            <a:off x="6446520" y="2359152"/>
            <a:ext cx="5394960" cy="658368"/>
          </a:xfrm>
          <a:prstGeom prst="rect">
            <a:avLst/>
          </a:prstGeom>
          <a:solidFill>
            <a:srgbClr val="1E1E35"/>
          </a:solidFill>
          <a:ln w="1905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446520" y="2359152"/>
            <a:ext cx="384048" cy="658368"/>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46520" y="2359152"/>
            <a:ext cx="384048" cy="658368"/>
          </a:xfrm>
          <a:prstGeom prst="rect">
            <a:avLst/>
          </a:prstGeom>
          <a:noFill/>
        </p:spPr>
        <p:txBody>
          <a:bodyPr wrap="square">
            <a:spAutoFit/>
          </a:bodyPr>
          <a:lstStyle/>
          <a:p>
            <a:pPr algn="ctr"/>
            <a:r>
              <a:rPr sz="1600" b="1" i="0">
                <a:solidFill>
                  <a:srgbClr val="12121E"/>
                </a:solidFill>
              </a:rPr>
              <a:t>4</a:t>
            </a:r>
          </a:p>
        </p:txBody>
      </p:sp>
      <p:sp>
        <p:nvSpPr>
          <p:cNvPr id="24" name="TextBox 23"/>
          <p:cNvSpPr txBox="1"/>
          <p:nvPr/>
        </p:nvSpPr>
        <p:spPr>
          <a:xfrm>
            <a:off x="6922008" y="2404872"/>
            <a:ext cx="4846320" cy="274320"/>
          </a:xfrm>
          <a:prstGeom prst="rect">
            <a:avLst/>
          </a:prstGeom>
          <a:noFill/>
        </p:spPr>
        <p:txBody>
          <a:bodyPr wrap="square">
            <a:spAutoFit/>
          </a:bodyPr>
          <a:lstStyle/>
          <a:p>
            <a:pPr algn="l"/>
            <a:r>
              <a:rPr sz="1200" b="1" i="0">
                <a:solidFill>
                  <a:srgbClr val="FFFFFF"/>
                </a:solidFill>
              </a:rPr>
              <a:t>Friends System</a:t>
            </a:r>
          </a:p>
        </p:txBody>
      </p:sp>
      <p:sp>
        <p:nvSpPr>
          <p:cNvPr id="25" name="TextBox 24"/>
          <p:cNvSpPr txBox="1"/>
          <p:nvPr/>
        </p:nvSpPr>
        <p:spPr>
          <a:xfrm>
            <a:off x="6922008" y="2688336"/>
            <a:ext cx="4846320" cy="274320"/>
          </a:xfrm>
          <a:prstGeom prst="rect">
            <a:avLst/>
          </a:prstGeom>
          <a:noFill/>
        </p:spPr>
        <p:txBody>
          <a:bodyPr wrap="square">
            <a:spAutoFit/>
          </a:bodyPr>
          <a:lstStyle/>
          <a:p>
            <a:pPr algn="l"/>
            <a:r>
              <a:rPr sz="1050" b="0" i="0" dirty="0">
                <a:solidFill>
                  <a:srgbClr val="888899"/>
                </a:solidFill>
              </a:rPr>
              <a:t>Sending a friend request, accepting it, and seeing both users connected</a:t>
            </a:r>
          </a:p>
        </p:txBody>
      </p:sp>
      <p:sp>
        <p:nvSpPr>
          <p:cNvPr id="26" name="Rectangle 25"/>
          <p:cNvSpPr/>
          <p:nvPr/>
        </p:nvSpPr>
        <p:spPr>
          <a:xfrm>
            <a:off x="548640" y="3163824"/>
            <a:ext cx="5394960" cy="658368"/>
          </a:xfrm>
          <a:prstGeom prst="rect">
            <a:avLst/>
          </a:prstGeom>
          <a:solidFill>
            <a:srgbClr val="1E1E35"/>
          </a:solidFill>
          <a:ln w="1905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48640" y="3163824"/>
            <a:ext cx="384048" cy="658368"/>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48640" y="3163824"/>
            <a:ext cx="384048" cy="658368"/>
          </a:xfrm>
          <a:prstGeom prst="rect">
            <a:avLst/>
          </a:prstGeom>
          <a:noFill/>
        </p:spPr>
        <p:txBody>
          <a:bodyPr wrap="square">
            <a:spAutoFit/>
          </a:bodyPr>
          <a:lstStyle/>
          <a:p>
            <a:pPr algn="ctr"/>
            <a:r>
              <a:rPr sz="1600" b="1" i="0">
                <a:solidFill>
                  <a:srgbClr val="12121E"/>
                </a:solidFill>
              </a:rPr>
              <a:t>5</a:t>
            </a:r>
          </a:p>
        </p:txBody>
      </p:sp>
      <p:sp>
        <p:nvSpPr>
          <p:cNvPr id="29" name="TextBox 28"/>
          <p:cNvSpPr txBox="1"/>
          <p:nvPr/>
        </p:nvSpPr>
        <p:spPr>
          <a:xfrm>
            <a:off x="1024128" y="3209544"/>
            <a:ext cx="4846320" cy="274320"/>
          </a:xfrm>
          <a:prstGeom prst="rect">
            <a:avLst/>
          </a:prstGeom>
          <a:noFill/>
        </p:spPr>
        <p:txBody>
          <a:bodyPr wrap="square">
            <a:spAutoFit/>
          </a:bodyPr>
          <a:lstStyle/>
          <a:p>
            <a:pPr algn="l"/>
            <a:r>
              <a:rPr sz="1200" b="1" i="0">
                <a:solidFill>
                  <a:srgbClr val="FFFFFF"/>
                </a:solidFill>
              </a:rPr>
              <a:t>Personalised Recommendations</a:t>
            </a:r>
          </a:p>
        </p:txBody>
      </p:sp>
      <p:sp>
        <p:nvSpPr>
          <p:cNvPr id="30" name="TextBox 29"/>
          <p:cNvSpPr txBox="1"/>
          <p:nvPr/>
        </p:nvSpPr>
        <p:spPr>
          <a:xfrm>
            <a:off x="1024128" y="3493008"/>
            <a:ext cx="4846320" cy="253916"/>
          </a:xfrm>
          <a:prstGeom prst="rect">
            <a:avLst/>
          </a:prstGeom>
          <a:noFill/>
        </p:spPr>
        <p:txBody>
          <a:bodyPr wrap="square">
            <a:spAutoFit/>
          </a:bodyPr>
          <a:lstStyle/>
          <a:p>
            <a:pPr algn="l"/>
            <a:r>
              <a:rPr sz="1050" b="0" i="0" dirty="0">
                <a:solidFill>
                  <a:srgbClr val="888899"/>
                </a:solidFill>
              </a:rPr>
              <a:t>Home page recommendations update based on friend play patterns</a:t>
            </a:r>
            <a:r>
              <a:rPr lang="en-CA" sz="1050" b="0" i="0" dirty="0">
                <a:solidFill>
                  <a:srgbClr val="888899"/>
                </a:solidFill>
              </a:rPr>
              <a:t> and own history</a:t>
            </a:r>
            <a:endParaRPr sz="1050" b="0" i="0" dirty="0">
              <a:solidFill>
                <a:srgbClr val="888899"/>
              </a:solidFill>
            </a:endParaRPr>
          </a:p>
        </p:txBody>
      </p:sp>
      <p:sp>
        <p:nvSpPr>
          <p:cNvPr id="31" name="Rectangle 30"/>
          <p:cNvSpPr/>
          <p:nvPr/>
        </p:nvSpPr>
        <p:spPr>
          <a:xfrm>
            <a:off x="6446520" y="3163824"/>
            <a:ext cx="5394960" cy="658368"/>
          </a:xfrm>
          <a:prstGeom prst="rect">
            <a:avLst/>
          </a:prstGeom>
          <a:solidFill>
            <a:srgbClr val="1E1E35"/>
          </a:solidFill>
          <a:ln w="1905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446520" y="3163824"/>
            <a:ext cx="384048" cy="658368"/>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46520" y="3163824"/>
            <a:ext cx="384048" cy="658368"/>
          </a:xfrm>
          <a:prstGeom prst="rect">
            <a:avLst/>
          </a:prstGeom>
          <a:noFill/>
        </p:spPr>
        <p:txBody>
          <a:bodyPr wrap="square">
            <a:spAutoFit/>
          </a:bodyPr>
          <a:lstStyle/>
          <a:p>
            <a:pPr algn="ctr"/>
            <a:r>
              <a:rPr sz="1600" b="1" i="0">
                <a:solidFill>
                  <a:srgbClr val="12121E"/>
                </a:solidFill>
              </a:rPr>
              <a:t>6</a:t>
            </a:r>
          </a:p>
        </p:txBody>
      </p:sp>
      <p:sp>
        <p:nvSpPr>
          <p:cNvPr id="34" name="TextBox 33"/>
          <p:cNvSpPr txBox="1"/>
          <p:nvPr/>
        </p:nvSpPr>
        <p:spPr>
          <a:xfrm>
            <a:off x="6922008" y="3209544"/>
            <a:ext cx="4846320" cy="274320"/>
          </a:xfrm>
          <a:prstGeom prst="rect">
            <a:avLst/>
          </a:prstGeom>
          <a:noFill/>
        </p:spPr>
        <p:txBody>
          <a:bodyPr wrap="square">
            <a:spAutoFit/>
          </a:bodyPr>
          <a:lstStyle/>
          <a:p>
            <a:pPr algn="l"/>
            <a:r>
              <a:rPr sz="1200" b="1" i="0">
                <a:solidFill>
                  <a:srgbClr val="FFFFFF"/>
                </a:solidFill>
              </a:rPr>
              <a:t>Global Leaderboard</a:t>
            </a:r>
          </a:p>
        </p:txBody>
      </p:sp>
      <p:sp>
        <p:nvSpPr>
          <p:cNvPr id="35" name="TextBox 34"/>
          <p:cNvSpPr txBox="1"/>
          <p:nvPr/>
        </p:nvSpPr>
        <p:spPr>
          <a:xfrm>
            <a:off x="6922008" y="3493008"/>
            <a:ext cx="4846320" cy="253916"/>
          </a:xfrm>
          <a:prstGeom prst="rect">
            <a:avLst/>
          </a:prstGeom>
          <a:noFill/>
        </p:spPr>
        <p:txBody>
          <a:bodyPr wrap="square">
            <a:spAutoFit/>
          </a:bodyPr>
          <a:lstStyle/>
          <a:p>
            <a:pPr algn="l"/>
            <a:r>
              <a:rPr sz="1050" b="0" i="0" dirty="0">
                <a:solidFill>
                  <a:srgbClr val="888899"/>
                </a:solidFill>
              </a:rPr>
              <a:t>Real-time profit ranking across all registered users</a:t>
            </a:r>
            <a:r>
              <a:rPr lang="en-CA" sz="1050" b="0" i="0" dirty="0">
                <a:solidFill>
                  <a:srgbClr val="888899"/>
                </a:solidFill>
              </a:rPr>
              <a:t> on a persisting panel </a:t>
            </a:r>
            <a:endParaRPr sz="1050" b="0" i="0" dirty="0">
              <a:solidFill>
                <a:srgbClr val="888899"/>
              </a:solidFill>
            </a:endParaRPr>
          </a:p>
        </p:txBody>
      </p:sp>
      <p:sp>
        <p:nvSpPr>
          <p:cNvPr id="36" name="Rectangle 35"/>
          <p:cNvSpPr/>
          <p:nvPr/>
        </p:nvSpPr>
        <p:spPr>
          <a:xfrm>
            <a:off x="548640" y="3968496"/>
            <a:ext cx="5394960" cy="658368"/>
          </a:xfrm>
          <a:prstGeom prst="rect">
            <a:avLst/>
          </a:prstGeom>
          <a:solidFill>
            <a:srgbClr val="1E1E35"/>
          </a:solidFill>
          <a:ln w="19050">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548640" y="3968496"/>
            <a:ext cx="384048" cy="658368"/>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48640" y="3968496"/>
            <a:ext cx="384048" cy="658368"/>
          </a:xfrm>
          <a:prstGeom prst="rect">
            <a:avLst/>
          </a:prstGeom>
          <a:noFill/>
        </p:spPr>
        <p:txBody>
          <a:bodyPr wrap="square">
            <a:spAutoFit/>
          </a:bodyPr>
          <a:lstStyle/>
          <a:p>
            <a:pPr algn="ctr"/>
            <a:r>
              <a:rPr sz="1600" b="1" i="0">
                <a:solidFill>
                  <a:srgbClr val="12121E"/>
                </a:solidFill>
              </a:rPr>
              <a:t>7</a:t>
            </a:r>
          </a:p>
        </p:txBody>
      </p:sp>
      <p:sp>
        <p:nvSpPr>
          <p:cNvPr id="39" name="TextBox 38"/>
          <p:cNvSpPr txBox="1"/>
          <p:nvPr/>
        </p:nvSpPr>
        <p:spPr>
          <a:xfrm>
            <a:off x="1024128" y="4014216"/>
            <a:ext cx="4846320" cy="274320"/>
          </a:xfrm>
          <a:prstGeom prst="rect">
            <a:avLst/>
          </a:prstGeom>
          <a:noFill/>
        </p:spPr>
        <p:txBody>
          <a:bodyPr wrap="square">
            <a:spAutoFit/>
          </a:bodyPr>
          <a:lstStyle/>
          <a:p>
            <a:pPr algn="l"/>
            <a:r>
              <a:rPr sz="1200" b="1" i="0">
                <a:solidFill>
                  <a:srgbClr val="FFFFFF"/>
                </a:solidFill>
              </a:rPr>
              <a:t>Account Deletion</a:t>
            </a:r>
          </a:p>
        </p:txBody>
      </p:sp>
      <p:sp>
        <p:nvSpPr>
          <p:cNvPr id="40" name="TextBox 39"/>
          <p:cNvSpPr txBox="1"/>
          <p:nvPr/>
        </p:nvSpPr>
        <p:spPr>
          <a:xfrm>
            <a:off x="1024128" y="4297680"/>
            <a:ext cx="4846320" cy="253916"/>
          </a:xfrm>
          <a:prstGeom prst="rect">
            <a:avLst/>
          </a:prstGeom>
          <a:noFill/>
        </p:spPr>
        <p:txBody>
          <a:bodyPr wrap="square">
            <a:spAutoFit/>
          </a:bodyPr>
          <a:lstStyle/>
          <a:p>
            <a:pPr algn="l"/>
            <a:r>
              <a:rPr sz="1050" b="0" i="0" dirty="0">
                <a:solidFill>
                  <a:srgbClr val="888899"/>
                </a:solidFill>
              </a:rPr>
              <a:t>Complete wipe </a:t>
            </a:r>
            <a:r>
              <a:rPr lang="en-CA" sz="1050" b="0" i="0" dirty="0">
                <a:solidFill>
                  <a:srgbClr val="888899"/>
                </a:solidFill>
              </a:rPr>
              <a:t>-</a:t>
            </a:r>
            <a:r>
              <a:rPr sz="1050" b="0" i="0" dirty="0">
                <a:solidFill>
                  <a:srgbClr val="888899"/>
                </a:solidFill>
              </a:rPr>
              <a:t> user data, sessions, and removal from all friend lists</a:t>
            </a:r>
          </a:p>
        </p:txBody>
      </p:sp>
      <p:pic>
        <p:nvPicPr>
          <p:cNvPr id="46" name="Picture 45">
            <a:extLst>
              <a:ext uri="{FF2B5EF4-FFF2-40B4-BE49-F238E27FC236}">
                <a16:creationId xmlns:a16="http://schemas.microsoft.com/office/drawing/2014/main" id="{C28CDD00-DEA3-BC49-CD1E-14E703FC70C6}"/>
              </a:ext>
            </a:extLst>
          </p:cNvPr>
          <p:cNvPicPr>
            <a:picLocks noChangeAspect="1"/>
          </p:cNvPicPr>
          <p:nvPr/>
        </p:nvPicPr>
        <p:blipFill>
          <a:blip r:embed="rId2"/>
          <a:stretch>
            <a:fillRect/>
          </a:stretch>
        </p:blipFill>
        <p:spPr>
          <a:xfrm>
            <a:off x="502921" y="5410982"/>
            <a:ext cx="1348740" cy="13487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2121E"/>
        </a:solidFill>
        <a:effectLst/>
      </p:bgPr>
    </p:bg>
    <p:spTree>
      <p:nvGrpSpPr>
        <p:cNvPr id="1" name=""/>
        <p:cNvGrpSpPr/>
        <p:nvPr/>
      </p:nvGrpSpPr>
      <p:grpSpPr>
        <a:xfrm>
          <a:off x="0" y="0"/>
          <a:ext cx="0" cy="0"/>
          <a:chOff x="0" y="0"/>
          <a:chExt cx="0" cy="0"/>
        </a:xfrm>
      </p:grpSpPr>
      <p:sp>
        <p:nvSpPr>
          <p:cNvPr id="2" name="Rectangle 1"/>
          <p:cNvSpPr/>
          <p:nvPr/>
        </p:nvSpPr>
        <p:spPr>
          <a:xfrm>
            <a:off x="0" y="0"/>
            <a:ext cx="320040" cy="685800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28600"/>
            <a:ext cx="9144000" cy="594360"/>
          </a:xfrm>
          <a:prstGeom prst="rect">
            <a:avLst/>
          </a:prstGeom>
          <a:noFill/>
        </p:spPr>
        <p:txBody>
          <a:bodyPr wrap="square">
            <a:spAutoFit/>
          </a:bodyPr>
          <a:lstStyle/>
          <a:p>
            <a:pPr algn="l"/>
            <a:r>
              <a:rPr sz="3200" b="1" i="0">
                <a:solidFill>
                  <a:srgbClr val="FFC400"/>
                </a:solidFill>
              </a:rPr>
              <a:t>Testing Strategy</a:t>
            </a:r>
          </a:p>
        </p:txBody>
      </p:sp>
      <p:sp>
        <p:nvSpPr>
          <p:cNvPr id="4" name="Rectangle 3"/>
          <p:cNvSpPr/>
          <p:nvPr/>
        </p:nvSpPr>
        <p:spPr>
          <a:xfrm>
            <a:off x="612648" y="914400"/>
            <a:ext cx="10972800" cy="2540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97280"/>
            <a:ext cx="3474720" cy="1828800"/>
          </a:xfrm>
          <a:prstGeom prst="rect">
            <a:avLst/>
          </a:prstGeom>
          <a:solidFill>
            <a:srgbClr val="1E1E35"/>
          </a:solidFill>
          <a:ln w="2540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188720"/>
            <a:ext cx="3255264" cy="365760"/>
          </a:xfrm>
          <a:prstGeom prst="rect">
            <a:avLst/>
          </a:prstGeom>
          <a:noFill/>
        </p:spPr>
        <p:txBody>
          <a:bodyPr wrap="square">
            <a:spAutoFit/>
          </a:bodyPr>
          <a:lstStyle/>
          <a:p>
            <a:pPr algn="l"/>
            <a:r>
              <a:rPr sz="1300" b="1" i="0">
                <a:solidFill>
                  <a:srgbClr val="4ADE80"/>
                </a:solidFill>
              </a:rPr>
              <a:t>Clear Box (CB)</a:t>
            </a:r>
          </a:p>
        </p:txBody>
      </p:sp>
      <p:sp>
        <p:nvSpPr>
          <p:cNvPr id="7" name="TextBox 6"/>
          <p:cNvSpPr txBox="1"/>
          <p:nvPr/>
        </p:nvSpPr>
        <p:spPr>
          <a:xfrm>
            <a:off x="658368" y="1600200"/>
            <a:ext cx="3255264" cy="830997"/>
          </a:xfrm>
          <a:prstGeom prst="rect">
            <a:avLst/>
          </a:prstGeom>
          <a:noFill/>
        </p:spPr>
        <p:txBody>
          <a:bodyPr wrap="square">
            <a:spAutoFit/>
          </a:bodyPr>
          <a:lstStyle/>
          <a:p>
            <a:pPr algn="l"/>
            <a:r>
              <a:rPr sz="1200" b="0" i="0" dirty="0">
                <a:solidFill>
                  <a:srgbClr val="CCCCCC"/>
                </a:solidFill>
              </a:rPr>
              <a:t>Full source access
Automated unit tests
Adrian (JS) </a:t>
            </a:r>
            <a:r>
              <a:rPr lang="en-CA" sz="1200" b="0" i="0" dirty="0">
                <a:solidFill>
                  <a:srgbClr val="CCCCCC"/>
                </a:solidFill>
              </a:rPr>
              <a:t>&amp;</a:t>
            </a:r>
            <a:r>
              <a:rPr sz="1200" b="0" i="0" dirty="0">
                <a:solidFill>
                  <a:srgbClr val="CCCCCC"/>
                </a:solidFill>
              </a:rPr>
              <a:t> Nikola (Java)
24 tests</a:t>
            </a:r>
          </a:p>
        </p:txBody>
      </p:sp>
      <p:sp>
        <p:nvSpPr>
          <p:cNvPr id="8" name="Rectangle 7"/>
          <p:cNvSpPr/>
          <p:nvPr/>
        </p:nvSpPr>
        <p:spPr>
          <a:xfrm>
            <a:off x="4343400" y="1097280"/>
            <a:ext cx="3474720" cy="1828800"/>
          </a:xfrm>
          <a:prstGeom prst="rect">
            <a:avLst/>
          </a:prstGeom>
          <a:solidFill>
            <a:srgbClr val="1E1E35"/>
          </a:solidFill>
          <a:ln w="254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53128" y="1188720"/>
            <a:ext cx="3255264" cy="365760"/>
          </a:xfrm>
          <a:prstGeom prst="rect">
            <a:avLst/>
          </a:prstGeom>
          <a:noFill/>
        </p:spPr>
        <p:txBody>
          <a:bodyPr wrap="square">
            <a:spAutoFit/>
          </a:bodyPr>
          <a:lstStyle/>
          <a:p>
            <a:pPr algn="l"/>
            <a:r>
              <a:rPr sz="1300" b="1" i="0">
                <a:solidFill>
                  <a:srgbClr val="60A5FA"/>
                </a:solidFill>
              </a:rPr>
              <a:t>Translucent Box (TB)</a:t>
            </a:r>
          </a:p>
        </p:txBody>
      </p:sp>
      <p:sp>
        <p:nvSpPr>
          <p:cNvPr id="10" name="TextBox 9"/>
          <p:cNvSpPr txBox="1"/>
          <p:nvPr/>
        </p:nvSpPr>
        <p:spPr>
          <a:xfrm>
            <a:off x="4453128" y="1600200"/>
            <a:ext cx="3255264" cy="830997"/>
          </a:xfrm>
          <a:prstGeom prst="rect">
            <a:avLst/>
          </a:prstGeom>
          <a:noFill/>
        </p:spPr>
        <p:txBody>
          <a:bodyPr wrap="square">
            <a:spAutoFit/>
          </a:bodyPr>
          <a:lstStyle/>
          <a:p>
            <a:pPr algn="l"/>
            <a:r>
              <a:rPr sz="1200" b="0" i="0" dirty="0">
                <a:solidFill>
                  <a:srgbClr val="CCCCCC"/>
                </a:solidFill>
              </a:rPr>
              <a:t>API known, internals hidden
Integration-level tests
Nikola </a:t>
            </a:r>
            <a:r>
              <a:rPr lang="en-CA" sz="1200" b="0" i="0" dirty="0">
                <a:solidFill>
                  <a:srgbClr val="CCCCCC"/>
                </a:solidFill>
              </a:rPr>
              <a:t>&amp;</a:t>
            </a:r>
            <a:r>
              <a:rPr sz="1200" b="0" i="0" dirty="0">
                <a:solidFill>
                  <a:srgbClr val="CCCCCC"/>
                </a:solidFill>
              </a:rPr>
              <a:t> Eric
12 tests</a:t>
            </a:r>
          </a:p>
        </p:txBody>
      </p:sp>
      <p:sp>
        <p:nvSpPr>
          <p:cNvPr id="11" name="Rectangle 10"/>
          <p:cNvSpPr/>
          <p:nvPr/>
        </p:nvSpPr>
        <p:spPr>
          <a:xfrm>
            <a:off x="8138160" y="1097280"/>
            <a:ext cx="3474720" cy="1828800"/>
          </a:xfrm>
          <a:prstGeom prst="rect">
            <a:avLst/>
          </a:prstGeom>
          <a:solidFill>
            <a:srgbClr val="1E1E35"/>
          </a:solidFill>
          <a:ln w="25400">
            <a:solidFill>
              <a:srgbClr val="FFC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47888" y="1188720"/>
            <a:ext cx="3255264" cy="365760"/>
          </a:xfrm>
          <a:prstGeom prst="rect">
            <a:avLst/>
          </a:prstGeom>
          <a:noFill/>
        </p:spPr>
        <p:txBody>
          <a:bodyPr wrap="square">
            <a:spAutoFit/>
          </a:bodyPr>
          <a:lstStyle/>
          <a:p>
            <a:pPr algn="l"/>
            <a:r>
              <a:rPr sz="1300" b="1" i="0">
                <a:solidFill>
                  <a:srgbClr val="FFC400"/>
                </a:solidFill>
              </a:rPr>
              <a:t>Opaque Box (OB)</a:t>
            </a:r>
          </a:p>
        </p:txBody>
      </p:sp>
      <p:sp>
        <p:nvSpPr>
          <p:cNvPr id="13" name="TextBox 12"/>
          <p:cNvSpPr txBox="1"/>
          <p:nvPr/>
        </p:nvSpPr>
        <p:spPr>
          <a:xfrm>
            <a:off x="8247888" y="1600200"/>
            <a:ext cx="3255264" cy="830997"/>
          </a:xfrm>
          <a:prstGeom prst="rect">
            <a:avLst/>
          </a:prstGeom>
          <a:noFill/>
        </p:spPr>
        <p:txBody>
          <a:bodyPr wrap="square">
            <a:spAutoFit/>
          </a:bodyPr>
          <a:lstStyle/>
          <a:p>
            <a:pPr algn="l"/>
            <a:r>
              <a:rPr sz="1200" b="0" i="0" dirty="0">
                <a:solidFill>
                  <a:srgbClr val="CCCCCC"/>
                </a:solidFill>
              </a:rPr>
              <a:t>Browser-only, no source
End-to-end system scenarios
Hayden </a:t>
            </a:r>
            <a:r>
              <a:rPr lang="en-CA" sz="1200" b="0" i="0" dirty="0">
                <a:solidFill>
                  <a:srgbClr val="CCCCCC"/>
                </a:solidFill>
              </a:rPr>
              <a:t>&amp;</a:t>
            </a:r>
            <a:r>
              <a:rPr sz="1200" b="0" i="0" dirty="0">
                <a:solidFill>
                  <a:srgbClr val="CCCCCC"/>
                </a:solidFill>
              </a:rPr>
              <a:t> Eric
10 tests</a:t>
            </a:r>
          </a:p>
        </p:txBody>
      </p:sp>
      <p:sp>
        <p:nvSpPr>
          <p:cNvPr id="14" name="Rectangle 13"/>
          <p:cNvSpPr/>
          <p:nvPr/>
        </p:nvSpPr>
        <p:spPr>
          <a:xfrm>
            <a:off x="548640" y="3108960"/>
            <a:ext cx="11155680" cy="34747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03504" y="3121660"/>
            <a:ext cx="11045952" cy="347472"/>
          </a:xfrm>
          <a:prstGeom prst="rect">
            <a:avLst/>
          </a:prstGeom>
          <a:noFill/>
        </p:spPr>
        <p:txBody>
          <a:bodyPr wrap="square">
            <a:spAutoFit/>
          </a:bodyPr>
          <a:lstStyle/>
          <a:p>
            <a:pPr algn="l"/>
            <a:r>
              <a:rPr sz="1200" b="1" i="0">
                <a:solidFill>
                  <a:srgbClr val="12121E"/>
                </a:solidFill>
              </a:rPr>
              <a:t>Test Coverage Summary</a:t>
            </a:r>
          </a:p>
        </p:txBody>
      </p:sp>
      <p:sp>
        <p:nvSpPr>
          <p:cNvPr id="16" name="Rectangle 15"/>
          <p:cNvSpPr/>
          <p:nvPr/>
        </p:nvSpPr>
        <p:spPr>
          <a:xfrm>
            <a:off x="2362200" y="3639312"/>
            <a:ext cx="2286000" cy="320040"/>
          </a:xfrm>
          <a:prstGeom prst="rect">
            <a:avLst/>
          </a:prstGeom>
          <a:solidFill>
            <a:srgbClr val="333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435352" y="3664712"/>
            <a:ext cx="2176272" cy="292608"/>
          </a:xfrm>
          <a:prstGeom prst="rect">
            <a:avLst/>
          </a:prstGeom>
          <a:noFill/>
        </p:spPr>
        <p:txBody>
          <a:bodyPr wrap="square">
            <a:spAutoFit/>
          </a:bodyPr>
          <a:lstStyle/>
          <a:p>
            <a:pPr algn="l"/>
            <a:r>
              <a:rPr sz="1100" b="1" i="0">
                <a:solidFill>
                  <a:srgbClr val="FFC400"/>
                </a:solidFill>
              </a:rPr>
              <a:t>Level</a:t>
            </a:r>
          </a:p>
        </p:txBody>
      </p:sp>
      <p:sp>
        <p:nvSpPr>
          <p:cNvPr id="18" name="Rectangle 17"/>
          <p:cNvSpPr/>
          <p:nvPr/>
        </p:nvSpPr>
        <p:spPr>
          <a:xfrm>
            <a:off x="4648200" y="3639312"/>
            <a:ext cx="1097280" cy="320040"/>
          </a:xfrm>
          <a:prstGeom prst="rect">
            <a:avLst/>
          </a:prstGeom>
          <a:solidFill>
            <a:srgbClr val="333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721352" y="3664712"/>
            <a:ext cx="987552" cy="292608"/>
          </a:xfrm>
          <a:prstGeom prst="rect">
            <a:avLst/>
          </a:prstGeom>
          <a:noFill/>
        </p:spPr>
        <p:txBody>
          <a:bodyPr wrap="square">
            <a:spAutoFit/>
          </a:bodyPr>
          <a:lstStyle/>
          <a:p>
            <a:pPr algn="l"/>
            <a:r>
              <a:rPr sz="1100" b="1" i="0">
                <a:solidFill>
                  <a:srgbClr val="FFC400"/>
                </a:solidFill>
              </a:rPr>
              <a:t>Count</a:t>
            </a:r>
          </a:p>
        </p:txBody>
      </p:sp>
      <p:sp>
        <p:nvSpPr>
          <p:cNvPr id="20" name="Rectangle 19"/>
          <p:cNvSpPr/>
          <p:nvPr/>
        </p:nvSpPr>
        <p:spPr>
          <a:xfrm>
            <a:off x="5745480" y="3639312"/>
            <a:ext cx="4114800" cy="320040"/>
          </a:xfrm>
          <a:prstGeom prst="rect">
            <a:avLst/>
          </a:prstGeom>
          <a:solidFill>
            <a:srgbClr val="333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818632" y="3664712"/>
            <a:ext cx="4005072" cy="292608"/>
          </a:xfrm>
          <a:prstGeom prst="rect">
            <a:avLst/>
          </a:prstGeom>
          <a:noFill/>
        </p:spPr>
        <p:txBody>
          <a:bodyPr wrap="square">
            <a:spAutoFit/>
          </a:bodyPr>
          <a:lstStyle/>
          <a:p>
            <a:pPr algn="l"/>
            <a:r>
              <a:rPr sz="1100" b="1" i="0">
                <a:solidFill>
                  <a:srgbClr val="FFC400"/>
                </a:solidFill>
              </a:rPr>
              <a:t>Tool / Runner</a:t>
            </a:r>
          </a:p>
        </p:txBody>
      </p:sp>
      <p:sp>
        <p:nvSpPr>
          <p:cNvPr id="24" name="Rectangle 23"/>
          <p:cNvSpPr/>
          <p:nvPr/>
        </p:nvSpPr>
        <p:spPr>
          <a:xfrm>
            <a:off x="2362200" y="3986784"/>
            <a:ext cx="2286000" cy="347472"/>
          </a:xfrm>
          <a:prstGeom prst="rect">
            <a:avLst/>
          </a:prstGeom>
          <a:solidFill>
            <a:srgbClr val="1E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435352" y="4012184"/>
            <a:ext cx="2176272" cy="310896"/>
          </a:xfrm>
          <a:prstGeom prst="rect">
            <a:avLst/>
          </a:prstGeom>
          <a:noFill/>
        </p:spPr>
        <p:txBody>
          <a:bodyPr wrap="square">
            <a:spAutoFit/>
          </a:bodyPr>
          <a:lstStyle/>
          <a:p>
            <a:pPr algn="l"/>
            <a:r>
              <a:rPr sz="1100" b="1" i="0">
                <a:solidFill>
                  <a:srgbClr val="4ADE80"/>
                </a:solidFill>
              </a:rPr>
              <a:t>Unit Tests</a:t>
            </a:r>
          </a:p>
        </p:txBody>
      </p:sp>
      <p:sp>
        <p:nvSpPr>
          <p:cNvPr id="26" name="Rectangle 25"/>
          <p:cNvSpPr/>
          <p:nvPr/>
        </p:nvSpPr>
        <p:spPr>
          <a:xfrm>
            <a:off x="4648200" y="3986784"/>
            <a:ext cx="1097280" cy="347472"/>
          </a:xfrm>
          <a:prstGeom prst="rect">
            <a:avLst/>
          </a:prstGeom>
          <a:solidFill>
            <a:srgbClr val="1E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721352" y="4012184"/>
            <a:ext cx="987552" cy="310896"/>
          </a:xfrm>
          <a:prstGeom prst="rect">
            <a:avLst/>
          </a:prstGeom>
          <a:noFill/>
        </p:spPr>
        <p:txBody>
          <a:bodyPr wrap="square">
            <a:spAutoFit/>
          </a:bodyPr>
          <a:lstStyle/>
          <a:p>
            <a:pPr algn="l"/>
            <a:r>
              <a:rPr sz="1100" b="0" i="0">
                <a:solidFill>
                  <a:srgbClr val="CCCCCC"/>
                </a:solidFill>
              </a:rPr>
              <a:t>24</a:t>
            </a:r>
          </a:p>
        </p:txBody>
      </p:sp>
      <p:sp>
        <p:nvSpPr>
          <p:cNvPr id="28" name="Rectangle 27"/>
          <p:cNvSpPr/>
          <p:nvPr/>
        </p:nvSpPr>
        <p:spPr>
          <a:xfrm>
            <a:off x="5745480" y="3986784"/>
            <a:ext cx="4114800" cy="347472"/>
          </a:xfrm>
          <a:prstGeom prst="rect">
            <a:avLst/>
          </a:prstGeom>
          <a:solidFill>
            <a:srgbClr val="1E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818632" y="4012184"/>
            <a:ext cx="4005072" cy="310896"/>
          </a:xfrm>
          <a:prstGeom prst="rect">
            <a:avLst/>
          </a:prstGeom>
          <a:noFill/>
        </p:spPr>
        <p:txBody>
          <a:bodyPr wrap="square">
            <a:spAutoFit/>
          </a:bodyPr>
          <a:lstStyle/>
          <a:p>
            <a:pPr algn="l"/>
            <a:r>
              <a:rPr sz="1100" b="0" i="0">
                <a:solidFill>
                  <a:srgbClr val="CCCCCC"/>
                </a:solidFill>
              </a:rPr>
              <a:t>Node.js test runner / JUnit 5</a:t>
            </a:r>
          </a:p>
        </p:txBody>
      </p:sp>
      <p:sp>
        <p:nvSpPr>
          <p:cNvPr id="32" name="Rectangle 31"/>
          <p:cNvSpPr/>
          <p:nvPr/>
        </p:nvSpPr>
        <p:spPr>
          <a:xfrm>
            <a:off x="2362200" y="4334256"/>
            <a:ext cx="2286000" cy="347472"/>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435352" y="4359656"/>
            <a:ext cx="2176272" cy="310896"/>
          </a:xfrm>
          <a:prstGeom prst="rect">
            <a:avLst/>
          </a:prstGeom>
          <a:noFill/>
        </p:spPr>
        <p:txBody>
          <a:bodyPr wrap="square">
            <a:spAutoFit/>
          </a:bodyPr>
          <a:lstStyle/>
          <a:p>
            <a:pPr algn="l"/>
            <a:r>
              <a:rPr sz="1100" b="1" i="0">
                <a:solidFill>
                  <a:srgbClr val="60A5FA"/>
                </a:solidFill>
              </a:rPr>
              <a:t>Integration Tests</a:t>
            </a:r>
          </a:p>
        </p:txBody>
      </p:sp>
      <p:sp>
        <p:nvSpPr>
          <p:cNvPr id="34" name="Rectangle 33"/>
          <p:cNvSpPr/>
          <p:nvPr/>
        </p:nvSpPr>
        <p:spPr>
          <a:xfrm>
            <a:off x="4648200" y="4334256"/>
            <a:ext cx="1097280" cy="347472"/>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721352" y="4359656"/>
            <a:ext cx="987552" cy="310896"/>
          </a:xfrm>
          <a:prstGeom prst="rect">
            <a:avLst/>
          </a:prstGeom>
          <a:noFill/>
        </p:spPr>
        <p:txBody>
          <a:bodyPr wrap="square">
            <a:spAutoFit/>
          </a:bodyPr>
          <a:lstStyle/>
          <a:p>
            <a:pPr algn="l"/>
            <a:r>
              <a:rPr sz="1100" b="0" i="0">
                <a:solidFill>
                  <a:srgbClr val="CCCCCC"/>
                </a:solidFill>
              </a:rPr>
              <a:t>12</a:t>
            </a:r>
          </a:p>
        </p:txBody>
      </p:sp>
      <p:sp>
        <p:nvSpPr>
          <p:cNvPr id="36" name="Rectangle 35"/>
          <p:cNvSpPr/>
          <p:nvPr/>
        </p:nvSpPr>
        <p:spPr>
          <a:xfrm>
            <a:off x="5745480" y="4334256"/>
            <a:ext cx="4114800" cy="347472"/>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818632" y="4359656"/>
            <a:ext cx="4005072" cy="310896"/>
          </a:xfrm>
          <a:prstGeom prst="rect">
            <a:avLst/>
          </a:prstGeom>
          <a:noFill/>
        </p:spPr>
        <p:txBody>
          <a:bodyPr wrap="square">
            <a:spAutoFit/>
          </a:bodyPr>
          <a:lstStyle/>
          <a:p>
            <a:pPr algn="l"/>
            <a:r>
              <a:rPr sz="1100" b="0" i="0">
                <a:solidFill>
                  <a:srgbClr val="CCCCCC"/>
                </a:solidFill>
              </a:rPr>
              <a:t>Node.js test runner / JUnit 5</a:t>
            </a:r>
          </a:p>
        </p:txBody>
      </p:sp>
      <p:sp>
        <p:nvSpPr>
          <p:cNvPr id="40" name="Rectangle 39"/>
          <p:cNvSpPr/>
          <p:nvPr/>
        </p:nvSpPr>
        <p:spPr>
          <a:xfrm>
            <a:off x="2362200" y="4681728"/>
            <a:ext cx="2286000" cy="347472"/>
          </a:xfrm>
          <a:prstGeom prst="rect">
            <a:avLst/>
          </a:prstGeom>
          <a:solidFill>
            <a:srgbClr val="1E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2435352" y="4707128"/>
            <a:ext cx="2176272" cy="310896"/>
          </a:xfrm>
          <a:prstGeom prst="rect">
            <a:avLst/>
          </a:prstGeom>
          <a:noFill/>
        </p:spPr>
        <p:txBody>
          <a:bodyPr wrap="square">
            <a:spAutoFit/>
          </a:bodyPr>
          <a:lstStyle/>
          <a:p>
            <a:pPr algn="l"/>
            <a:r>
              <a:rPr sz="1100" b="1" i="0">
                <a:solidFill>
                  <a:srgbClr val="FFC400"/>
                </a:solidFill>
              </a:rPr>
              <a:t>System Tests</a:t>
            </a:r>
          </a:p>
        </p:txBody>
      </p:sp>
      <p:sp>
        <p:nvSpPr>
          <p:cNvPr id="42" name="Rectangle 41"/>
          <p:cNvSpPr/>
          <p:nvPr/>
        </p:nvSpPr>
        <p:spPr>
          <a:xfrm>
            <a:off x="4648200" y="4681728"/>
            <a:ext cx="1097280" cy="347472"/>
          </a:xfrm>
          <a:prstGeom prst="rect">
            <a:avLst/>
          </a:prstGeom>
          <a:solidFill>
            <a:srgbClr val="1E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721352" y="4707128"/>
            <a:ext cx="987552" cy="310896"/>
          </a:xfrm>
          <a:prstGeom prst="rect">
            <a:avLst/>
          </a:prstGeom>
          <a:noFill/>
        </p:spPr>
        <p:txBody>
          <a:bodyPr wrap="square">
            <a:spAutoFit/>
          </a:bodyPr>
          <a:lstStyle/>
          <a:p>
            <a:pPr algn="l"/>
            <a:r>
              <a:rPr sz="1100" b="0" i="0">
                <a:solidFill>
                  <a:srgbClr val="CCCCCC"/>
                </a:solidFill>
              </a:rPr>
              <a:t>10</a:t>
            </a:r>
          </a:p>
        </p:txBody>
      </p:sp>
      <p:sp>
        <p:nvSpPr>
          <p:cNvPr id="44" name="Rectangle 43"/>
          <p:cNvSpPr/>
          <p:nvPr/>
        </p:nvSpPr>
        <p:spPr>
          <a:xfrm>
            <a:off x="5745480" y="4681728"/>
            <a:ext cx="4114800" cy="347472"/>
          </a:xfrm>
          <a:prstGeom prst="rect">
            <a:avLst/>
          </a:prstGeom>
          <a:solidFill>
            <a:srgbClr val="1E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818632" y="4707128"/>
            <a:ext cx="4005072" cy="261610"/>
          </a:xfrm>
          <a:prstGeom prst="rect">
            <a:avLst/>
          </a:prstGeom>
          <a:noFill/>
        </p:spPr>
        <p:txBody>
          <a:bodyPr wrap="square">
            <a:spAutoFit/>
          </a:bodyPr>
          <a:lstStyle/>
          <a:p>
            <a:pPr algn="l"/>
            <a:r>
              <a:rPr sz="1100" b="0" i="0" dirty="0">
                <a:solidFill>
                  <a:srgbClr val="CCCCCC"/>
                </a:solidFill>
              </a:rPr>
              <a:t>Manual</a:t>
            </a:r>
          </a:p>
        </p:txBody>
      </p:sp>
      <p:pic>
        <p:nvPicPr>
          <p:cNvPr id="48" name="Picture 47">
            <a:extLst>
              <a:ext uri="{FF2B5EF4-FFF2-40B4-BE49-F238E27FC236}">
                <a16:creationId xmlns:a16="http://schemas.microsoft.com/office/drawing/2014/main" id="{6B5611E8-3FCF-CF76-BB56-084127B2948B}"/>
              </a:ext>
            </a:extLst>
          </p:cNvPr>
          <p:cNvPicPr>
            <a:picLocks noChangeAspect="1"/>
          </p:cNvPicPr>
          <p:nvPr/>
        </p:nvPicPr>
        <p:blipFill>
          <a:blip r:embed="rId2"/>
          <a:stretch>
            <a:fillRect/>
          </a:stretch>
        </p:blipFill>
        <p:spPr>
          <a:xfrm>
            <a:off x="502921" y="5410982"/>
            <a:ext cx="1348740" cy="13487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2121E"/>
        </a:solidFill>
        <a:effectLst/>
      </p:bgPr>
    </p:bg>
    <p:spTree>
      <p:nvGrpSpPr>
        <p:cNvPr id="1" name=""/>
        <p:cNvGrpSpPr/>
        <p:nvPr/>
      </p:nvGrpSpPr>
      <p:grpSpPr>
        <a:xfrm>
          <a:off x="0" y="0"/>
          <a:ext cx="0" cy="0"/>
          <a:chOff x="0" y="0"/>
          <a:chExt cx="0" cy="0"/>
        </a:xfrm>
      </p:grpSpPr>
      <p:sp>
        <p:nvSpPr>
          <p:cNvPr id="2" name="Rectangle 1"/>
          <p:cNvSpPr/>
          <p:nvPr/>
        </p:nvSpPr>
        <p:spPr>
          <a:xfrm>
            <a:off x="0" y="0"/>
            <a:ext cx="320040" cy="685800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28600"/>
            <a:ext cx="9144000" cy="594360"/>
          </a:xfrm>
          <a:prstGeom prst="rect">
            <a:avLst/>
          </a:prstGeom>
          <a:noFill/>
        </p:spPr>
        <p:txBody>
          <a:bodyPr wrap="square">
            <a:spAutoFit/>
          </a:bodyPr>
          <a:lstStyle/>
          <a:p>
            <a:pPr algn="l"/>
            <a:r>
              <a:rPr sz="3200" b="1" i="0">
                <a:solidFill>
                  <a:srgbClr val="FFC400"/>
                </a:solidFill>
              </a:rPr>
              <a:t>Interesting Bugs Found</a:t>
            </a:r>
          </a:p>
        </p:txBody>
      </p:sp>
      <p:sp>
        <p:nvSpPr>
          <p:cNvPr id="5" name="Rectangle 4"/>
          <p:cNvSpPr/>
          <p:nvPr/>
        </p:nvSpPr>
        <p:spPr>
          <a:xfrm>
            <a:off x="612648" y="914400"/>
            <a:ext cx="10972800" cy="2540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051560"/>
            <a:ext cx="11247120" cy="1600200"/>
          </a:xfrm>
          <a:prstGeom prst="rect">
            <a:avLst/>
          </a:prstGeom>
          <a:solidFill>
            <a:srgbClr val="1E1E35"/>
          </a:solidFill>
          <a:ln w="254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Rectangle 6"/>
          <p:cNvSpPr/>
          <p:nvPr/>
        </p:nvSpPr>
        <p:spPr>
          <a:xfrm>
            <a:off x="548640" y="1051560"/>
            <a:ext cx="201168" cy="160020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22960" y="1161288"/>
            <a:ext cx="868680" cy="292608"/>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1161288"/>
            <a:ext cx="868680" cy="292608"/>
          </a:xfrm>
          <a:prstGeom prst="rect">
            <a:avLst/>
          </a:prstGeom>
          <a:noFill/>
        </p:spPr>
        <p:txBody>
          <a:bodyPr wrap="square">
            <a:spAutoFit/>
          </a:bodyPr>
          <a:lstStyle/>
          <a:p>
            <a:pPr algn="ctr"/>
            <a:r>
              <a:rPr sz="1000" b="1" i="0">
                <a:solidFill>
                  <a:srgbClr val="12121E"/>
                </a:solidFill>
              </a:rPr>
              <a:t>Bug #1</a:t>
            </a:r>
          </a:p>
        </p:txBody>
      </p:sp>
      <p:sp>
        <p:nvSpPr>
          <p:cNvPr id="10" name="TextBox 9"/>
          <p:cNvSpPr txBox="1"/>
          <p:nvPr/>
        </p:nvSpPr>
        <p:spPr>
          <a:xfrm>
            <a:off x="1783080" y="1143000"/>
            <a:ext cx="7315200" cy="292388"/>
          </a:xfrm>
          <a:prstGeom prst="rect">
            <a:avLst/>
          </a:prstGeom>
          <a:noFill/>
        </p:spPr>
        <p:txBody>
          <a:bodyPr wrap="square">
            <a:spAutoFit/>
          </a:bodyPr>
          <a:lstStyle/>
          <a:p>
            <a:pPr algn="l"/>
            <a:r>
              <a:rPr lang="en-CA" sz="1300" b="1" i="0" dirty="0">
                <a:solidFill>
                  <a:srgbClr val="FFFFFF"/>
                </a:solidFill>
              </a:rPr>
              <a:t>Number Guesser game still appeared in recommendations even though it no longer existed</a:t>
            </a:r>
            <a:endParaRPr sz="1300" b="1" i="0" dirty="0">
              <a:solidFill>
                <a:srgbClr val="FFFFFF"/>
              </a:solidFill>
            </a:endParaRPr>
          </a:p>
        </p:txBody>
      </p:sp>
      <p:sp>
        <p:nvSpPr>
          <p:cNvPr id="12" name="TextBox 11"/>
          <p:cNvSpPr txBox="1"/>
          <p:nvPr/>
        </p:nvSpPr>
        <p:spPr>
          <a:xfrm>
            <a:off x="822960" y="1527048"/>
            <a:ext cx="5394960" cy="900246"/>
          </a:xfrm>
          <a:prstGeom prst="rect">
            <a:avLst/>
          </a:prstGeom>
          <a:noFill/>
        </p:spPr>
        <p:txBody>
          <a:bodyPr wrap="square">
            <a:spAutoFit/>
          </a:bodyPr>
          <a:lstStyle/>
          <a:p>
            <a:r>
              <a:rPr lang="en-US" sz="1050" b="1" dirty="0">
                <a:solidFill>
                  <a:srgbClr val="CCCCCC"/>
                </a:solidFill>
              </a:rPr>
              <a:t>What happened: </a:t>
            </a:r>
            <a:r>
              <a:rPr lang="en-US" sz="1050" dirty="0">
                <a:solidFill>
                  <a:srgbClr val="CCCCCC"/>
                </a:solidFill>
              </a:rPr>
              <a:t>Initially, the name of the game was Number Guesser. It got renamed to Dice Roll. However, the old game remained under the dummy accounts favorite games list as Number Guesser. As a result, whenever the system analyzed the user's friends and tried recommending a game for them, the system would show "Number Guesser" in the recommended games list as well as the Dice Roll. </a:t>
            </a:r>
            <a:endParaRPr sz="1050" b="0" i="0" dirty="0">
              <a:solidFill>
                <a:srgbClr val="CCCCCC"/>
              </a:solidFill>
            </a:endParaRPr>
          </a:p>
        </p:txBody>
      </p:sp>
      <p:sp>
        <p:nvSpPr>
          <p:cNvPr id="13" name="Rectangle 12"/>
          <p:cNvSpPr/>
          <p:nvPr/>
        </p:nvSpPr>
        <p:spPr>
          <a:xfrm>
            <a:off x="6328411" y="1435388"/>
            <a:ext cx="45719" cy="1079212"/>
          </a:xfrm>
          <a:prstGeom prst="rect">
            <a:avLst/>
          </a:prstGeom>
          <a:solidFill>
            <a:srgbClr val="444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92240" y="1527048"/>
            <a:ext cx="5120640" cy="415498"/>
          </a:xfrm>
          <a:prstGeom prst="rect">
            <a:avLst/>
          </a:prstGeom>
          <a:noFill/>
        </p:spPr>
        <p:txBody>
          <a:bodyPr wrap="square">
            <a:spAutoFit/>
          </a:bodyPr>
          <a:lstStyle/>
          <a:p>
            <a:r>
              <a:rPr sz="1050" b="1" i="0" dirty="0">
                <a:solidFill>
                  <a:srgbClr val="4ADE80"/>
                </a:solidFill>
              </a:rPr>
              <a:t>Fix: </a:t>
            </a:r>
            <a:r>
              <a:rPr lang="en-US" sz="1050" dirty="0">
                <a:solidFill>
                  <a:srgbClr val="4ADE80"/>
                </a:solidFill>
              </a:rPr>
              <a:t>Creating a lookup table to translate old games into their modern names before making recommendations</a:t>
            </a:r>
            <a:endParaRPr sz="1050" b="0" i="0" dirty="0">
              <a:solidFill>
                <a:srgbClr val="4ADE80"/>
              </a:solidFill>
            </a:endParaRPr>
          </a:p>
        </p:txBody>
      </p:sp>
      <p:sp>
        <p:nvSpPr>
          <p:cNvPr id="15" name="Rectangle 14"/>
          <p:cNvSpPr/>
          <p:nvPr/>
        </p:nvSpPr>
        <p:spPr>
          <a:xfrm>
            <a:off x="548640" y="2761488"/>
            <a:ext cx="11247120" cy="1600200"/>
          </a:xfrm>
          <a:prstGeom prst="rect">
            <a:avLst/>
          </a:prstGeom>
          <a:solidFill>
            <a:srgbClr val="1E1E35"/>
          </a:solidFill>
          <a:ln w="254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6" name="Rectangle 15"/>
          <p:cNvSpPr/>
          <p:nvPr/>
        </p:nvSpPr>
        <p:spPr>
          <a:xfrm>
            <a:off x="548640" y="2761488"/>
            <a:ext cx="201168" cy="160020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22960" y="2871216"/>
            <a:ext cx="868680" cy="292608"/>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 y="2871216"/>
            <a:ext cx="868680" cy="292608"/>
          </a:xfrm>
          <a:prstGeom prst="rect">
            <a:avLst/>
          </a:prstGeom>
          <a:noFill/>
        </p:spPr>
        <p:txBody>
          <a:bodyPr wrap="square">
            <a:spAutoFit/>
          </a:bodyPr>
          <a:lstStyle/>
          <a:p>
            <a:pPr algn="ctr"/>
            <a:r>
              <a:rPr sz="1000" b="1" i="0">
                <a:solidFill>
                  <a:srgbClr val="12121E"/>
                </a:solidFill>
              </a:rPr>
              <a:t>Bug #2</a:t>
            </a:r>
          </a:p>
        </p:txBody>
      </p:sp>
      <p:sp>
        <p:nvSpPr>
          <p:cNvPr id="19" name="TextBox 18"/>
          <p:cNvSpPr txBox="1"/>
          <p:nvPr/>
        </p:nvSpPr>
        <p:spPr>
          <a:xfrm>
            <a:off x="1783080" y="2852928"/>
            <a:ext cx="7315200" cy="292388"/>
          </a:xfrm>
          <a:prstGeom prst="rect">
            <a:avLst/>
          </a:prstGeom>
          <a:noFill/>
        </p:spPr>
        <p:txBody>
          <a:bodyPr wrap="square">
            <a:spAutoFit/>
          </a:bodyPr>
          <a:lstStyle/>
          <a:p>
            <a:pPr algn="l"/>
            <a:r>
              <a:rPr lang="en-CA" sz="1300" b="1" dirty="0">
                <a:solidFill>
                  <a:srgbClr val="FFFFFF"/>
                </a:solidFill>
              </a:rPr>
              <a:t>You could bet more money than you had</a:t>
            </a:r>
            <a:endParaRPr sz="1300" b="1" i="0" dirty="0">
              <a:solidFill>
                <a:srgbClr val="FFFFFF"/>
              </a:solidFill>
            </a:endParaRPr>
          </a:p>
        </p:txBody>
      </p:sp>
      <p:sp>
        <p:nvSpPr>
          <p:cNvPr id="21" name="TextBox 20"/>
          <p:cNvSpPr txBox="1"/>
          <p:nvPr/>
        </p:nvSpPr>
        <p:spPr>
          <a:xfrm>
            <a:off x="822960" y="3236976"/>
            <a:ext cx="5394960" cy="900246"/>
          </a:xfrm>
          <a:prstGeom prst="rect">
            <a:avLst/>
          </a:prstGeom>
          <a:noFill/>
        </p:spPr>
        <p:txBody>
          <a:bodyPr wrap="square">
            <a:spAutoFit/>
          </a:bodyPr>
          <a:lstStyle/>
          <a:p>
            <a:r>
              <a:rPr lang="en-US" sz="1050" b="1" dirty="0">
                <a:solidFill>
                  <a:srgbClr val="CCCCCC"/>
                </a:solidFill>
              </a:rPr>
              <a:t>What happened: </a:t>
            </a:r>
            <a:r>
              <a:rPr lang="en-US" sz="1050" dirty="0">
                <a:solidFill>
                  <a:srgbClr val="CCCCCC"/>
                </a:solidFill>
              </a:rPr>
              <a:t>In the game of Blackjack, there was no maximum value for the "+" button placed beside the betting amount. This allowed you to increase the bet beyond your account balance and make a bet that couldn't possibly be made. After applying the fix to this by setting a maximum value for the "+" button, it led to </a:t>
            </a:r>
            <a:r>
              <a:rPr lang="en-CA" sz="1050" dirty="0">
                <a:solidFill>
                  <a:schemeClr val="bg1">
                    <a:lumMod val="75000"/>
                  </a:schemeClr>
                </a:solidFill>
              </a:rPr>
              <a:t>being stuck betting with the previous bet value if insufficient funds because both the "+" and "-" buttons were restricted. </a:t>
            </a:r>
            <a:endParaRPr sz="1050" b="0" i="0" dirty="0">
              <a:solidFill>
                <a:schemeClr val="bg1">
                  <a:lumMod val="75000"/>
                </a:schemeClr>
              </a:solidFill>
            </a:endParaRPr>
          </a:p>
        </p:txBody>
      </p:sp>
      <p:sp>
        <p:nvSpPr>
          <p:cNvPr id="22" name="Rectangle 21"/>
          <p:cNvSpPr/>
          <p:nvPr/>
        </p:nvSpPr>
        <p:spPr>
          <a:xfrm>
            <a:off x="6328410" y="2944148"/>
            <a:ext cx="45719" cy="1280380"/>
          </a:xfrm>
          <a:prstGeom prst="rect">
            <a:avLst/>
          </a:prstGeom>
          <a:solidFill>
            <a:srgbClr val="444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92240" y="3236976"/>
            <a:ext cx="5120640" cy="577081"/>
          </a:xfrm>
          <a:prstGeom prst="rect">
            <a:avLst/>
          </a:prstGeom>
          <a:noFill/>
        </p:spPr>
        <p:txBody>
          <a:bodyPr wrap="square">
            <a:spAutoFit/>
          </a:bodyPr>
          <a:lstStyle/>
          <a:p>
            <a:pPr algn="l"/>
            <a:r>
              <a:rPr sz="1050" b="1" i="0" dirty="0">
                <a:solidFill>
                  <a:srgbClr val="4ADE80"/>
                </a:solidFill>
              </a:rPr>
              <a:t>Fix: </a:t>
            </a:r>
            <a:r>
              <a:rPr lang="en-CA" sz="1050" b="0" i="0" dirty="0">
                <a:solidFill>
                  <a:srgbClr val="4ADE80"/>
                </a:solidFill>
              </a:rPr>
              <a:t>Setting the maximum value of the "+" button to your account balance as well as automatically checking the bet value against the user balance after each game ended and  updating the bet amount accordingly.</a:t>
            </a:r>
            <a:endParaRPr sz="1050" b="0" i="0" dirty="0">
              <a:solidFill>
                <a:srgbClr val="4ADE80"/>
              </a:solidFill>
            </a:endParaRPr>
          </a:p>
        </p:txBody>
      </p:sp>
      <p:sp>
        <p:nvSpPr>
          <p:cNvPr id="33" name="Rectangle 32">
            <a:extLst>
              <a:ext uri="{FF2B5EF4-FFF2-40B4-BE49-F238E27FC236}">
                <a16:creationId xmlns:a16="http://schemas.microsoft.com/office/drawing/2014/main" id="{FD07CEA1-E342-A8CA-2066-4B14B071DB99}"/>
              </a:ext>
            </a:extLst>
          </p:cNvPr>
          <p:cNvSpPr/>
          <p:nvPr/>
        </p:nvSpPr>
        <p:spPr>
          <a:xfrm>
            <a:off x="548640" y="4451205"/>
            <a:ext cx="11247120" cy="1600200"/>
          </a:xfrm>
          <a:prstGeom prst="rect">
            <a:avLst/>
          </a:prstGeom>
          <a:solidFill>
            <a:srgbClr val="1E1E35"/>
          </a:solidFill>
          <a:ln w="254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a:extLst>
              <a:ext uri="{FF2B5EF4-FFF2-40B4-BE49-F238E27FC236}">
                <a16:creationId xmlns:a16="http://schemas.microsoft.com/office/drawing/2014/main" id="{97103625-AB1E-2607-D052-D8E8B5891188}"/>
              </a:ext>
            </a:extLst>
          </p:cNvPr>
          <p:cNvSpPr/>
          <p:nvPr/>
        </p:nvSpPr>
        <p:spPr>
          <a:xfrm>
            <a:off x="548640" y="4451205"/>
            <a:ext cx="201168" cy="160020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a:extLst>
              <a:ext uri="{FF2B5EF4-FFF2-40B4-BE49-F238E27FC236}">
                <a16:creationId xmlns:a16="http://schemas.microsoft.com/office/drawing/2014/main" id="{19260A56-4B42-4EB4-93AA-32622DC3D766}"/>
              </a:ext>
            </a:extLst>
          </p:cNvPr>
          <p:cNvSpPr/>
          <p:nvPr/>
        </p:nvSpPr>
        <p:spPr>
          <a:xfrm>
            <a:off x="822960" y="4560933"/>
            <a:ext cx="868680" cy="292608"/>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a:extLst>
              <a:ext uri="{FF2B5EF4-FFF2-40B4-BE49-F238E27FC236}">
                <a16:creationId xmlns:a16="http://schemas.microsoft.com/office/drawing/2014/main" id="{C89542B5-9006-0CA3-1C46-CB1339722E4B}"/>
              </a:ext>
            </a:extLst>
          </p:cNvPr>
          <p:cNvSpPr txBox="1"/>
          <p:nvPr/>
        </p:nvSpPr>
        <p:spPr>
          <a:xfrm>
            <a:off x="822960" y="4560933"/>
            <a:ext cx="868680" cy="246221"/>
          </a:xfrm>
          <a:prstGeom prst="rect">
            <a:avLst/>
          </a:prstGeom>
          <a:noFill/>
        </p:spPr>
        <p:txBody>
          <a:bodyPr wrap="square">
            <a:spAutoFit/>
          </a:bodyPr>
          <a:lstStyle/>
          <a:p>
            <a:pPr algn="ctr"/>
            <a:r>
              <a:rPr sz="1000" b="1" i="0" dirty="0">
                <a:solidFill>
                  <a:srgbClr val="12121E"/>
                </a:solidFill>
              </a:rPr>
              <a:t>Bug #</a:t>
            </a:r>
            <a:r>
              <a:rPr lang="en-CA" sz="1000" b="1" i="0" dirty="0">
                <a:solidFill>
                  <a:srgbClr val="12121E"/>
                </a:solidFill>
              </a:rPr>
              <a:t>3</a:t>
            </a:r>
            <a:endParaRPr sz="1000" b="1" i="0" dirty="0">
              <a:solidFill>
                <a:srgbClr val="12121E"/>
              </a:solidFill>
            </a:endParaRPr>
          </a:p>
        </p:txBody>
      </p:sp>
      <p:sp>
        <p:nvSpPr>
          <p:cNvPr id="37" name="TextBox 36">
            <a:extLst>
              <a:ext uri="{FF2B5EF4-FFF2-40B4-BE49-F238E27FC236}">
                <a16:creationId xmlns:a16="http://schemas.microsoft.com/office/drawing/2014/main" id="{9D6DE106-24D3-9D70-F748-A4787B9D7DDF}"/>
              </a:ext>
            </a:extLst>
          </p:cNvPr>
          <p:cNvSpPr txBox="1"/>
          <p:nvPr/>
        </p:nvSpPr>
        <p:spPr>
          <a:xfrm>
            <a:off x="1783080" y="4542645"/>
            <a:ext cx="7315200" cy="292388"/>
          </a:xfrm>
          <a:prstGeom prst="rect">
            <a:avLst/>
          </a:prstGeom>
          <a:noFill/>
        </p:spPr>
        <p:txBody>
          <a:bodyPr wrap="square">
            <a:spAutoFit/>
          </a:bodyPr>
          <a:lstStyle/>
          <a:p>
            <a:pPr algn="l"/>
            <a:r>
              <a:rPr lang="en-CA" sz="1300" b="1" i="0" dirty="0">
                <a:solidFill>
                  <a:srgbClr val="FFFFFF"/>
                </a:solidFill>
              </a:rPr>
              <a:t>The startup script </a:t>
            </a:r>
            <a:r>
              <a:rPr lang="en-CA" sz="1300" b="1" dirty="0">
                <a:solidFill>
                  <a:srgbClr val="FFFFFF"/>
                </a:solidFill>
              </a:rPr>
              <a:t>kept crashing on Windows due to its parser</a:t>
            </a:r>
            <a:endParaRPr sz="1300" b="1" i="0" dirty="0">
              <a:solidFill>
                <a:srgbClr val="FFFFFF"/>
              </a:solidFill>
            </a:endParaRPr>
          </a:p>
        </p:txBody>
      </p:sp>
      <p:sp>
        <p:nvSpPr>
          <p:cNvPr id="39" name="TextBox 38">
            <a:extLst>
              <a:ext uri="{FF2B5EF4-FFF2-40B4-BE49-F238E27FC236}">
                <a16:creationId xmlns:a16="http://schemas.microsoft.com/office/drawing/2014/main" id="{E1C79EAF-4989-74B0-4892-0BF2F441CC3B}"/>
              </a:ext>
            </a:extLst>
          </p:cNvPr>
          <p:cNvSpPr txBox="1"/>
          <p:nvPr/>
        </p:nvSpPr>
        <p:spPr>
          <a:xfrm>
            <a:off x="822960" y="4926693"/>
            <a:ext cx="5394960" cy="1061829"/>
          </a:xfrm>
          <a:prstGeom prst="rect">
            <a:avLst/>
          </a:prstGeom>
          <a:noFill/>
        </p:spPr>
        <p:txBody>
          <a:bodyPr wrap="square">
            <a:spAutoFit/>
          </a:bodyPr>
          <a:lstStyle/>
          <a:p>
            <a:r>
              <a:rPr lang="en-US" sz="1050" b="1" dirty="0">
                <a:solidFill>
                  <a:srgbClr val="CCCCCC"/>
                </a:solidFill>
              </a:rPr>
              <a:t>What happened: </a:t>
            </a:r>
            <a:r>
              <a:rPr lang="en-US" sz="1050" dirty="0">
                <a:solidFill>
                  <a:srgbClr val="CCCCCC"/>
                </a:solidFill>
              </a:rPr>
              <a:t>There was an issue in the start-server.bat file that prevented the server from starting up. Initially, there was a statement that echoed a progress status message with the word "not" in it. This disrupted the batch parser in Windows and made it throw a syntax error instead of showing the useful status message. However, this problem was solved initially by eliminating that statement, but after putting the same statement in a different form that included an apostrophe, the same issue occurred again.</a:t>
            </a:r>
            <a:endParaRPr sz="1050" b="0" i="0" dirty="0">
              <a:solidFill>
                <a:srgbClr val="CCCCCC"/>
              </a:solidFill>
            </a:endParaRPr>
          </a:p>
        </p:txBody>
      </p:sp>
      <p:sp>
        <p:nvSpPr>
          <p:cNvPr id="40" name="Rectangle 39">
            <a:extLst>
              <a:ext uri="{FF2B5EF4-FFF2-40B4-BE49-F238E27FC236}">
                <a16:creationId xmlns:a16="http://schemas.microsoft.com/office/drawing/2014/main" id="{42E0FEC6-0FB2-8717-5F45-BC5612911EA2}"/>
              </a:ext>
            </a:extLst>
          </p:cNvPr>
          <p:cNvSpPr/>
          <p:nvPr/>
        </p:nvSpPr>
        <p:spPr>
          <a:xfrm>
            <a:off x="6328411" y="4588365"/>
            <a:ext cx="45719" cy="1325880"/>
          </a:xfrm>
          <a:prstGeom prst="rect">
            <a:avLst/>
          </a:prstGeom>
          <a:solidFill>
            <a:srgbClr val="444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a:extLst>
              <a:ext uri="{FF2B5EF4-FFF2-40B4-BE49-F238E27FC236}">
                <a16:creationId xmlns:a16="http://schemas.microsoft.com/office/drawing/2014/main" id="{8BCE7FBA-A485-49CF-66F7-8008D01460A0}"/>
              </a:ext>
            </a:extLst>
          </p:cNvPr>
          <p:cNvSpPr txBox="1"/>
          <p:nvPr/>
        </p:nvSpPr>
        <p:spPr>
          <a:xfrm>
            <a:off x="6492240" y="4926693"/>
            <a:ext cx="5120640" cy="415498"/>
          </a:xfrm>
          <a:prstGeom prst="rect">
            <a:avLst/>
          </a:prstGeom>
          <a:noFill/>
        </p:spPr>
        <p:txBody>
          <a:bodyPr wrap="square">
            <a:spAutoFit/>
          </a:bodyPr>
          <a:lstStyle/>
          <a:p>
            <a:pPr algn="l"/>
            <a:r>
              <a:rPr sz="1050" b="1" i="0" dirty="0">
                <a:solidFill>
                  <a:srgbClr val="4ADE80"/>
                </a:solidFill>
              </a:rPr>
              <a:t>Fix: </a:t>
            </a:r>
            <a:r>
              <a:rPr lang="en-CA" sz="1050" b="0" i="0" dirty="0">
                <a:solidFill>
                  <a:srgbClr val="4ADE80"/>
                </a:solidFill>
              </a:rPr>
              <a:t>Removing keywords from the echo statements such as "not" and apostrophes, and avoiding those words entirely in future statements.</a:t>
            </a:r>
            <a:endParaRPr sz="1050" b="0" i="0" dirty="0">
              <a:solidFill>
                <a:srgbClr val="4ADE80"/>
              </a:solidFill>
            </a:endParaRPr>
          </a:p>
        </p:txBody>
      </p:sp>
      <p:pic>
        <p:nvPicPr>
          <p:cNvPr id="42" name="Picture 41">
            <a:extLst>
              <a:ext uri="{FF2B5EF4-FFF2-40B4-BE49-F238E27FC236}">
                <a16:creationId xmlns:a16="http://schemas.microsoft.com/office/drawing/2014/main" id="{97F91BBD-6775-0B4B-16CB-555B246D5025}"/>
              </a:ext>
            </a:extLst>
          </p:cNvPr>
          <p:cNvPicPr>
            <a:picLocks noChangeAspect="1"/>
          </p:cNvPicPr>
          <p:nvPr/>
        </p:nvPicPr>
        <p:blipFill>
          <a:blip r:embed="rId2"/>
          <a:stretch>
            <a:fillRect/>
          </a:stretch>
        </p:blipFill>
        <p:spPr>
          <a:xfrm>
            <a:off x="502921" y="6170944"/>
            <a:ext cx="588778" cy="58877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2121E"/>
        </a:solidFill>
        <a:effectLst/>
      </p:bgPr>
    </p:bg>
    <p:spTree>
      <p:nvGrpSpPr>
        <p:cNvPr id="1" name=""/>
        <p:cNvGrpSpPr/>
        <p:nvPr/>
      </p:nvGrpSpPr>
      <p:grpSpPr>
        <a:xfrm>
          <a:off x="0" y="0"/>
          <a:ext cx="0" cy="0"/>
          <a:chOff x="0" y="0"/>
          <a:chExt cx="0" cy="0"/>
        </a:xfrm>
      </p:grpSpPr>
      <p:sp>
        <p:nvSpPr>
          <p:cNvPr id="2" name="Rectangle 1"/>
          <p:cNvSpPr/>
          <p:nvPr/>
        </p:nvSpPr>
        <p:spPr>
          <a:xfrm>
            <a:off x="0" y="0"/>
            <a:ext cx="320040" cy="685800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28600"/>
            <a:ext cx="10972800" cy="594360"/>
          </a:xfrm>
          <a:prstGeom prst="rect">
            <a:avLst/>
          </a:prstGeom>
          <a:noFill/>
        </p:spPr>
        <p:txBody>
          <a:bodyPr wrap="square">
            <a:spAutoFit/>
          </a:bodyPr>
          <a:lstStyle/>
          <a:p>
            <a:pPr algn="ctr"/>
            <a:r>
              <a:rPr sz="3200" b="1" i="0" dirty="0">
                <a:solidFill>
                  <a:srgbClr val="FFC400"/>
                </a:solidFill>
              </a:rPr>
              <a:t>Project Retrospective</a:t>
            </a:r>
          </a:p>
        </p:txBody>
      </p:sp>
      <p:sp>
        <p:nvSpPr>
          <p:cNvPr id="4" name="TextBox 3"/>
          <p:cNvSpPr txBox="1"/>
          <p:nvPr/>
        </p:nvSpPr>
        <p:spPr>
          <a:xfrm>
            <a:off x="548640" y="713232"/>
            <a:ext cx="10972800" cy="292388"/>
          </a:xfrm>
          <a:prstGeom prst="rect">
            <a:avLst/>
          </a:prstGeom>
          <a:noFill/>
        </p:spPr>
        <p:txBody>
          <a:bodyPr wrap="square">
            <a:spAutoFit/>
          </a:bodyPr>
          <a:lstStyle/>
          <a:p>
            <a:pPr algn="ctr"/>
            <a:r>
              <a:rPr lang="en-CA" sz="1300" i="1" dirty="0">
                <a:solidFill>
                  <a:srgbClr val="888899"/>
                </a:solidFill>
              </a:rPr>
              <a:t>Cover 1 or more points each</a:t>
            </a:r>
            <a:endParaRPr sz="1300" b="0" i="1" dirty="0">
              <a:solidFill>
                <a:srgbClr val="888899"/>
              </a:solidFill>
            </a:endParaRPr>
          </a:p>
        </p:txBody>
      </p:sp>
      <p:sp>
        <p:nvSpPr>
          <p:cNvPr id="5" name="Rectangle 4"/>
          <p:cNvSpPr/>
          <p:nvPr/>
        </p:nvSpPr>
        <p:spPr>
          <a:xfrm>
            <a:off x="612648" y="1078992"/>
            <a:ext cx="10972800" cy="2540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23" name="Group 22">
            <a:extLst>
              <a:ext uri="{FF2B5EF4-FFF2-40B4-BE49-F238E27FC236}">
                <a16:creationId xmlns:a16="http://schemas.microsoft.com/office/drawing/2014/main" id="{9A250A41-8F6B-E79B-2BE8-2C9FD3720EDC}"/>
              </a:ext>
            </a:extLst>
          </p:cNvPr>
          <p:cNvGrpSpPr/>
          <p:nvPr/>
        </p:nvGrpSpPr>
        <p:grpSpPr>
          <a:xfrm>
            <a:off x="1350266" y="1307592"/>
            <a:ext cx="9896856" cy="1645546"/>
            <a:chOff x="548640" y="1234440"/>
            <a:chExt cx="5440680" cy="320040"/>
          </a:xfrm>
        </p:grpSpPr>
        <p:sp>
          <p:nvSpPr>
            <p:cNvPr id="7" name="Rectangle 6"/>
            <p:cNvSpPr/>
            <p:nvPr/>
          </p:nvSpPr>
          <p:spPr>
            <a:xfrm>
              <a:off x="548640" y="1234440"/>
              <a:ext cx="5440680" cy="32004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 y="1247140"/>
              <a:ext cx="5221224" cy="185563"/>
            </a:xfrm>
            <a:prstGeom prst="rect">
              <a:avLst/>
            </a:prstGeom>
            <a:noFill/>
          </p:spPr>
          <p:txBody>
            <a:bodyPr wrap="square">
              <a:spAutoFit/>
            </a:bodyPr>
            <a:lstStyle/>
            <a:p>
              <a:pPr algn="ctr"/>
              <a:endParaRPr lang="en-US" sz="2800" b="1" i="0" dirty="0">
                <a:solidFill>
                  <a:srgbClr val="12121E"/>
                </a:solidFill>
              </a:endParaRPr>
            </a:p>
            <a:p>
              <a:pPr algn="ctr"/>
              <a:r>
                <a:rPr lang="en-US" sz="2800" b="1" i="0" dirty="0">
                  <a:solidFill>
                    <a:srgbClr val="12121E"/>
                  </a:solidFill>
                </a:rPr>
                <a:t>What went well? What did you enjoy about the project?</a:t>
              </a:r>
            </a:p>
          </p:txBody>
        </p:sp>
      </p:grpSp>
      <p:grpSp>
        <p:nvGrpSpPr>
          <p:cNvPr id="22" name="Group 21">
            <a:extLst>
              <a:ext uri="{FF2B5EF4-FFF2-40B4-BE49-F238E27FC236}">
                <a16:creationId xmlns:a16="http://schemas.microsoft.com/office/drawing/2014/main" id="{EFBBC725-66BF-CE30-52F8-D4EE976A3B7D}"/>
              </a:ext>
            </a:extLst>
          </p:cNvPr>
          <p:cNvGrpSpPr/>
          <p:nvPr/>
        </p:nvGrpSpPr>
        <p:grpSpPr>
          <a:xfrm>
            <a:off x="1350265" y="3123679"/>
            <a:ext cx="9896856" cy="1645546"/>
            <a:chOff x="6400800" y="1234440"/>
            <a:chExt cx="5440680" cy="320040"/>
          </a:xfrm>
        </p:grpSpPr>
        <p:sp>
          <p:nvSpPr>
            <p:cNvPr id="11" name="Rectangle 10"/>
            <p:cNvSpPr/>
            <p:nvPr/>
          </p:nvSpPr>
          <p:spPr>
            <a:xfrm>
              <a:off x="6400800" y="1234440"/>
              <a:ext cx="5440680" cy="320040"/>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10528" y="1247140"/>
              <a:ext cx="5221224" cy="185563"/>
            </a:xfrm>
            <a:prstGeom prst="rect">
              <a:avLst/>
            </a:prstGeom>
            <a:noFill/>
          </p:spPr>
          <p:txBody>
            <a:bodyPr wrap="square">
              <a:spAutoFit/>
            </a:bodyPr>
            <a:lstStyle/>
            <a:p>
              <a:pPr algn="ctr"/>
              <a:endParaRPr lang="en-CA" sz="2800" b="1" i="0" dirty="0">
                <a:solidFill>
                  <a:srgbClr val="12121E"/>
                </a:solidFill>
              </a:endParaRPr>
            </a:p>
            <a:p>
              <a:pPr algn="ctr"/>
              <a:r>
                <a:rPr lang="en-CA" sz="2800" b="1" i="0" dirty="0">
                  <a:solidFill>
                    <a:srgbClr val="12121E"/>
                  </a:solidFill>
                </a:rPr>
                <a:t>What would you do differently knowing what you know now?</a:t>
              </a:r>
              <a:endParaRPr sz="2800" b="1" i="0" dirty="0">
                <a:solidFill>
                  <a:srgbClr val="12121E"/>
                </a:solidFill>
              </a:endParaRPr>
            </a:p>
          </p:txBody>
        </p:sp>
      </p:grpSp>
      <p:grpSp>
        <p:nvGrpSpPr>
          <p:cNvPr id="24" name="Group 23">
            <a:extLst>
              <a:ext uri="{FF2B5EF4-FFF2-40B4-BE49-F238E27FC236}">
                <a16:creationId xmlns:a16="http://schemas.microsoft.com/office/drawing/2014/main" id="{9B24E5E9-6DEE-A66B-2960-E942951E0AC8}"/>
              </a:ext>
            </a:extLst>
          </p:cNvPr>
          <p:cNvGrpSpPr/>
          <p:nvPr/>
        </p:nvGrpSpPr>
        <p:grpSpPr>
          <a:xfrm>
            <a:off x="1350264" y="4932585"/>
            <a:ext cx="9896856" cy="1645546"/>
            <a:chOff x="548640" y="3822192"/>
            <a:chExt cx="5440680" cy="320040"/>
          </a:xfrm>
        </p:grpSpPr>
        <p:sp>
          <p:nvSpPr>
            <p:cNvPr id="15" name="Rectangle 14"/>
            <p:cNvSpPr/>
            <p:nvPr/>
          </p:nvSpPr>
          <p:spPr>
            <a:xfrm>
              <a:off x="548640" y="3822192"/>
              <a:ext cx="5440680" cy="32004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8642" y="3834892"/>
              <a:ext cx="5440677" cy="185563"/>
            </a:xfrm>
            <a:prstGeom prst="rect">
              <a:avLst/>
            </a:prstGeom>
            <a:noFill/>
          </p:spPr>
          <p:txBody>
            <a:bodyPr wrap="square">
              <a:spAutoFit/>
            </a:bodyPr>
            <a:lstStyle/>
            <a:p>
              <a:pPr algn="ctr"/>
              <a:endParaRPr lang="en-CA" sz="2800" b="1" i="0" dirty="0">
                <a:solidFill>
                  <a:srgbClr val="12121E"/>
                </a:solidFill>
              </a:endParaRPr>
            </a:p>
            <a:p>
              <a:pPr algn="ctr"/>
              <a:r>
                <a:rPr lang="en-CA" sz="2800" b="1" i="0" dirty="0">
                  <a:solidFill>
                    <a:srgbClr val="12121E"/>
                  </a:solidFill>
                </a:rPr>
                <a:t>What is one lesson/takeaway you have learned from this project?</a:t>
              </a:r>
              <a:endParaRPr sz="2800" b="1" i="0" dirty="0">
                <a:solidFill>
                  <a:srgbClr val="12121E"/>
                </a:solidFill>
              </a:endParaRPr>
            </a:p>
          </p:txBody>
        </p:sp>
      </p:grpSp>
      <p:pic>
        <p:nvPicPr>
          <p:cNvPr id="29" name="Picture 28">
            <a:extLst>
              <a:ext uri="{FF2B5EF4-FFF2-40B4-BE49-F238E27FC236}">
                <a16:creationId xmlns:a16="http://schemas.microsoft.com/office/drawing/2014/main" id="{FD479E70-D9DA-E467-9D81-516B55AB2140}"/>
              </a:ext>
            </a:extLst>
          </p:cNvPr>
          <p:cNvPicPr>
            <a:picLocks noChangeAspect="1"/>
          </p:cNvPicPr>
          <p:nvPr/>
        </p:nvPicPr>
        <p:blipFill>
          <a:blip r:embed="rId2"/>
          <a:stretch>
            <a:fillRect/>
          </a:stretch>
        </p:blipFill>
        <p:spPr>
          <a:xfrm>
            <a:off x="502921" y="5977390"/>
            <a:ext cx="782332" cy="78233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2121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8288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75120"/>
            <a:ext cx="12188952" cy="18288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0" y="457200"/>
            <a:ext cx="12188952" cy="1097280"/>
          </a:xfrm>
          <a:prstGeom prst="rect">
            <a:avLst/>
          </a:prstGeom>
          <a:noFill/>
        </p:spPr>
        <p:txBody>
          <a:bodyPr wrap="square">
            <a:spAutoFit/>
          </a:bodyPr>
          <a:lstStyle/>
          <a:p>
            <a:pPr algn="ctr"/>
            <a:r>
              <a:rPr sz="8000" b="0" i="0">
                <a:solidFill>
                  <a:srgbClr val="222238"/>
                </a:solidFill>
              </a:rPr>
              <a:t>♠     ♥     ♦     ♣</a:t>
            </a:r>
          </a:p>
        </p:txBody>
      </p:sp>
      <p:sp>
        <p:nvSpPr>
          <p:cNvPr id="5" name="TextBox 4"/>
          <p:cNvSpPr txBox="1"/>
          <p:nvPr/>
        </p:nvSpPr>
        <p:spPr>
          <a:xfrm>
            <a:off x="0" y="3166745"/>
            <a:ext cx="12188952" cy="1463040"/>
          </a:xfrm>
          <a:prstGeom prst="rect">
            <a:avLst/>
          </a:prstGeom>
          <a:noFill/>
        </p:spPr>
        <p:txBody>
          <a:bodyPr wrap="square">
            <a:spAutoFit/>
          </a:bodyPr>
          <a:lstStyle/>
          <a:p>
            <a:pPr algn="ctr"/>
            <a:r>
              <a:rPr sz="7200" b="1" i="0" dirty="0">
                <a:solidFill>
                  <a:srgbClr val="FFC400"/>
                </a:solidFill>
              </a:rPr>
              <a:t>Thank You</a:t>
            </a:r>
          </a:p>
        </p:txBody>
      </p:sp>
      <p:sp>
        <p:nvSpPr>
          <p:cNvPr id="7" name="Rectangle 6"/>
          <p:cNvSpPr/>
          <p:nvPr/>
        </p:nvSpPr>
        <p:spPr>
          <a:xfrm>
            <a:off x="3355848" y="4446905"/>
            <a:ext cx="5486400" cy="2540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0" y="4557395"/>
            <a:ext cx="12188952" cy="276999"/>
          </a:xfrm>
          <a:prstGeom prst="rect">
            <a:avLst/>
          </a:prstGeom>
          <a:noFill/>
        </p:spPr>
        <p:txBody>
          <a:bodyPr wrap="square">
            <a:spAutoFit/>
          </a:bodyPr>
          <a:lstStyle/>
          <a:p>
            <a:pPr algn="ctr"/>
            <a:r>
              <a:rPr lang="en-CA" sz="1200" dirty="0">
                <a:solidFill>
                  <a:srgbClr val="60A5FA"/>
                </a:solidFill>
              </a:rPr>
              <a:t>https://github.com/PiNNTORP-LLC/PiNNTORP</a:t>
            </a:r>
            <a:endParaRPr sz="1200" b="0" i="0" dirty="0">
              <a:solidFill>
                <a:srgbClr val="60A5FA"/>
              </a:solidFill>
            </a:endParaRPr>
          </a:p>
        </p:txBody>
      </p:sp>
      <p:sp>
        <p:nvSpPr>
          <p:cNvPr id="10" name="TextBox 9"/>
          <p:cNvSpPr txBox="1"/>
          <p:nvPr/>
        </p:nvSpPr>
        <p:spPr>
          <a:xfrm>
            <a:off x="0" y="4834255"/>
            <a:ext cx="12188952" cy="276999"/>
          </a:xfrm>
          <a:prstGeom prst="rect">
            <a:avLst/>
          </a:prstGeom>
          <a:noFill/>
        </p:spPr>
        <p:txBody>
          <a:bodyPr wrap="square">
            <a:spAutoFit/>
          </a:bodyPr>
          <a:lstStyle/>
          <a:p>
            <a:pPr algn="ctr"/>
            <a:r>
              <a:rPr lang="en-CA" sz="1200" dirty="0">
                <a:solidFill>
                  <a:srgbClr val="CCCCCC"/>
                </a:solidFill>
              </a:rPr>
              <a:t>Hayden Dunn · Adrian Ahmadi · Nikola </a:t>
            </a:r>
            <a:r>
              <a:rPr lang="en-CA" sz="1200" dirty="0" err="1">
                <a:solidFill>
                  <a:srgbClr val="CCCCCC"/>
                </a:solidFill>
              </a:rPr>
              <a:t>Grujin</a:t>
            </a:r>
            <a:r>
              <a:rPr lang="en-CA" sz="1200" dirty="0">
                <a:solidFill>
                  <a:srgbClr val="CCCCCC"/>
                </a:solidFill>
              </a:rPr>
              <a:t> · </a:t>
            </a:r>
            <a:r>
              <a:rPr sz="1200" b="0" i="0" dirty="0">
                <a:solidFill>
                  <a:srgbClr val="CCCCCC"/>
                </a:solidFill>
              </a:rPr>
              <a:t>Eric Beaulne </a:t>
            </a:r>
          </a:p>
        </p:txBody>
      </p:sp>
      <p:pic>
        <p:nvPicPr>
          <p:cNvPr id="11" name="Picture 10">
            <a:extLst>
              <a:ext uri="{FF2B5EF4-FFF2-40B4-BE49-F238E27FC236}">
                <a16:creationId xmlns:a16="http://schemas.microsoft.com/office/drawing/2014/main" id="{AA47B938-B0A9-CE91-7079-14225234242B}"/>
              </a:ext>
            </a:extLst>
          </p:cNvPr>
          <p:cNvPicPr>
            <a:picLocks noChangeAspect="1"/>
          </p:cNvPicPr>
          <p:nvPr/>
        </p:nvPicPr>
        <p:blipFill>
          <a:blip r:embed="rId2"/>
          <a:stretch>
            <a:fillRect/>
          </a:stretch>
        </p:blipFill>
        <p:spPr>
          <a:xfrm>
            <a:off x="5183822" y="1614805"/>
            <a:ext cx="1821179" cy="1821179"/>
          </a:xfrm>
          <a:prstGeom prst="rect">
            <a:avLst/>
          </a:prstGeom>
        </p:spPr>
      </p:pic>
      <p:sp>
        <p:nvSpPr>
          <p:cNvPr id="12" name="TextBox 11">
            <a:extLst>
              <a:ext uri="{FF2B5EF4-FFF2-40B4-BE49-F238E27FC236}">
                <a16:creationId xmlns:a16="http://schemas.microsoft.com/office/drawing/2014/main" id="{ED9F13F5-2A6F-86AE-896E-4B900209957A}"/>
              </a:ext>
            </a:extLst>
          </p:cNvPr>
          <p:cNvSpPr txBox="1"/>
          <p:nvPr/>
        </p:nvSpPr>
        <p:spPr>
          <a:xfrm>
            <a:off x="-76200" y="5306060"/>
            <a:ext cx="12188952" cy="1097280"/>
          </a:xfrm>
          <a:prstGeom prst="rect">
            <a:avLst/>
          </a:prstGeom>
          <a:noFill/>
        </p:spPr>
        <p:txBody>
          <a:bodyPr wrap="square">
            <a:spAutoFit/>
          </a:bodyPr>
          <a:lstStyle/>
          <a:p>
            <a:pPr algn="ctr"/>
            <a:r>
              <a:rPr sz="8000" b="0" i="0" dirty="0">
                <a:solidFill>
                  <a:srgbClr val="222238"/>
                </a:solidFill>
              </a:rPr>
              <a:t>♠     ♥     ♦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261</TotalTime>
  <Words>1239</Words>
  <Application>Microsoft Office PowerPoint</Application>
  <PresentationFormat>Custom</PresentationFormat>
  <Paragraphs>138</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Tiavina Dunn</cp:lastModifiedBy>
  <cp:revision>8</cp:revision>
  <dcterms:created xsi:type="dcterms:W3CDTF">2013-01-27T09:14:16Z</dcterms:created>
  <dcterms:modified xsi:type="dcterms:W3CDTF">2026-04-07T15:22:12Z</dcterms:modified>
  <cp:category/>
</cp:coreProperties>
</file>